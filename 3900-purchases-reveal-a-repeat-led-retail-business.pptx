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Big Shoulders ExtraBold"/>
      <p:regular r:id="rId201314"/>
    </p:embeddedFont>
    <p:embeddedFont>
      <p:font typeface="Hubot Sans"/>
      <p:regular r:id="rId201315"/>
    </p:embeddedFont>
    <p:embeddedFont>
      <p:font typeface="Hubot Sans SemiBold"/>
      <p:regular r:id="rId201316"/>
    </p:embeddedFont>
    <p:embeddedFont>
      <p:font typeface="Hubot Sans Bold"/>
      <p:regular r:id="rId201317"/>
    </p:embeddedFont>
    <p:embeddedFont>
      <p:font typeface="Martian Mono"/>
      <p:regular r:id="rId201318"/>
    </p:embeddedFont>
    <p:embeddedFont>
      <p:font typeface="Martian Mono Medium"/>
      <p:regular r:id="rId201319"/>
    </p:embeddedFont>
    <p:embeddedFont>
      <p:font typeface="Martian Mono Bold"/>
      <p:regular r:id="rId2013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central read: this is a repeat-led retail business. The analysis connects purchase behavior, product demand, and targeted offers across 3,900 purchases.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broad enough to connect behavior to action: it includes the customer, the product, the location, and the signals that describe the relationship. Thirty-seven missing review ratings were imputed by product-category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Retention is the clearer opportunity. There are 3,116 loyal customers, but subscribers are only 27% of customers. Average spend is almost identical: $59.49 for subscribers and $59.87 for non-subscribers.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Male customers account for $157,890 of observed revenue versus $75,191 from female customers—a difference of $82,699. This is a descriptive finding, not a causal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Clothing is the commercial center of gravity, at roughly $100K and 1,800 sales. Accessories follow at roughly $75K and 1,200 sales. The leading named products are Jewelry, Blouse, Pants, Sandals, and Jacket.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Discounting is attracting meaningful spend, but it is also a margin question. Hats, sneakers, coats, sweaters, and pants show the highest discount rates. The recommendation is to protect high-demand products from becoming permanently promotion-led.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Among repeat buyers with more than five purchases, 2,518 are non-subscribers and 958 are subscribers. The gap suggests loyalty alone is not converting customers into the paid or formal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Young adults lead at $62,143, but the curve is relatively balanced: middle-aged customers contribute $59,197, adults $55,978, and seniors $55,763. Express shipping averages $60.48 versus $58.46 for standard shipping. Interpretation: prioritize young adults, but avoid building a single-segment strategy; the four groups contribute within a relatively narrow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Gloves lead at 3.86, followed by Sandals at 3.84, Boots at 3.82, Hat at 3.80, and Skirt at 3.78. These products can serve as proof points in campaign creative while the broader rating remains a question to investigate.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operating agenda: reward frequency, activate the loyal base, protect margin, use strong products as proof, and target young adults without ignoring the balanced age curve. The central priority is retention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414E47"/>
          </a:solidFill>
          <a:ln/>
        </p:spPr>
      </p:sp>
      <p:sp>
        <p:nvSpPr>
          <p:cNvPr id="3" name="Shape 1"/>
          <p:cNvSpPr/>
          <p:nvPr/>
        </p:nvSpPr>
        <p:spPr>
          <a:xfrm>
            <a:off x="0" y="0"/>
            <a:ext cx="12191695" cy="6858000"/>
          </a:xfrm>
          <a:prstGeom prst="rect">
            <a:avLst/>
          </a:prstGeom>
          <a:solidFill>
            <a:srgbClr val="0E1512"/>
          </a:solidFill>
          <a:ln/>
        </p:spPr>
      </p:sp>
      <p:pic>
        <p:nvPicPr>
          <p:cNvPr id="4"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5"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414E47"/>
          </a:solidFill>
          <a:ln/>
        </p:spPr>
      </p:sp>
      <p:sp>
        <p:nvSpPr>
          <p:cNvPr id="3" name="Shape 1"/>
          <p:cNvSpPr/>
          <p:nvPr/>
        </p:nvSpPr>
        <p:spPr>
          <a:xfrm>
            <a:off x="0" y="0"/>
            <a:ext cx="12191695" cy="6858000"/>
          </a:xfrm>
          <a:prstGeom prst="rect">
            <a:avLst/>
          </a:prstGeom>
          <a:solidFill>
            <a:srgbClr val="0E1512"/>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09585" y="2095500"/>
            <a:ext cx="7111822" cy="4445000"/>
          </a:xfrm>
          <a:prstGeom prst="rect">
            <a:avLst/>
          </a:prstGeom>
          <a:solidFill>
            <a:srgbClr val="0E1512"/>
          </a:solidFill>
          <a:ln/>
        </p:spPr>
      </p:sp>
      <p:sp>
        <p:nvSpPr>
          <p:cNvPr id="3" name="Shape 1"/>
          <p:cNvSpPr/>
          <p:nvPr/>
        </p:nvSpPr>
        <p:spPr>
          <a:xfrm>
            <a:off x="965176" y="2447925"/>
            <a:ext cx="1600160" cy="57150"/>
          </a:xfrm>
          <a:prstGeom prst="roundRect">
            <a:avLst>
              <a:gd name="adj" fmla="val 49999"/>
            </a:avLst>
          </a:prstGeom>
          <a:solidFill>
            <a:srgbClr val="FFB000"/>
          </a:solidFill>
          <a:ln/>
        </p:spPr>
      </p:sp>
      <p:sp>
        <p:nvSpPr>
          <p:cNvPr id="4" name="Text 2"/>
          <p:cNvSpPr/>
          <p:nvPr/>
        </p:nvSpPr>
        <p:spPr>
          <a:xfrm>
            <a:off x="965176" y="2806700"/>
            <a:ext cx="6400640" cy="786309"/>
          </a:xfrm>
          <a:prstGeom prst="rect">
            <a:avLst/>
          </a:prstGeom>
          <a:noFill/>
          <a:ln/>
        </p:spPr>
        <p:txBody>
          <a:bodyPr wrap="none" lIns="0" tIns="0" rIns="0" bIns="0" rtlCol="0" anchor="t"/>
          <a:lstStyle/>
          <a:p>
            <a:pPr algn="l" indent="0" marL="0">
              <a:lnSpc>
                <a:spcPct val="72000"/>
              </a:lnSpc>
              <a:buNone/>
            </a:pPr>
            <a:r>
              <a:rPr lang="en-US" sz="7200" spc="-72" kern="0" dirty="0">
                <a:solidFill>
                  <a:srgbClr val="FFFFFF"/>
                </a:solidFill>
                <a:latin typeface="Big Shoulders ExtraBold" pitchFamily="34" charset="0"/>
                <a:ea typeface="Big Shoulders ExtraBold" pitchFamily="34" charset="-122"/>
                <a:cs typeface="Big Shoulders ExtraBold" pitchFamily="34" charset="-120"/>
              </a:rPr>
              <a:t>3,900 PURCHASES</a:t>
            </a:r>
            <a:endParaRPr lang="en-US" sz="7200" dirty="0"/>
          </a:p>
        </p:txBody>
      </p:sp>
      <p:sp>
        <p:nvSpPr>
          <p:cNvPr id="5" name="Text 3"/>
          <p:cNvSpPr/>
          <p:nvPr/>
        </p:nvSpPr>
        <p:spPr>
          <a:xfrm>
            <a:off x="965176" y="3726359"/>
            <a:ext cx="6400640"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FFFFFF"/>
                </a:solidFill>
                <a:latin typeface="Big Shoulders ExtraBold" pitchFamily="34" charset="0"/>
                <a:ea typeface="Big Shoulders ExtraBold" pitchFamily="34" charset="-122"/>
                <a:cs typeface="Big Shoulders ExtraBold" pitchFamily="34" charset="-120"/>
              </a:rPr>
              <a:t>REVEAL A REPEAT-LED RETAIL BUSINESS</a:t>
            </a:r>
            <a:endParaRPr lang="en-US" sz="4400" dirty="0"/>
          </a:p>
        </p:txBody>
      </p:sp>
      <p:sp>
        <p:nvSpPr>
          <p:cNvPr id="6" name="Text 4"/>
          <p:cNvSpPr/>
          <p:nvPr/>
        </p:nvSpPr>
        <p:spPr>
          <a:xfrm>
            <a:off x="965176" y="4937224"/>
            <a:ext cx="6400640"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FFFFFF"/>
                </a:solidFill>
                <a:latin typeface="Hubot Sans" pitchFamily="34" charset="0"/>
                <a:ea typeface="Hubot Sans" pitchFamily="34" charset="-122"/>
                <a:cs typeface="Hubot Sans" pitchFamily="34" charset="-120"/>
              </a:rPr>
              <a:t>Customer behavior is strongest where repeat buying, product demand, and targeted offers reinforce one another.</a:t>
            </a:r>
            <a:endParaRPr lang="en-US" sz="1800" dirty="0"/>
          </a:p>
        </p:txBody>
      </p:sp>
      <p:sp>
        <p:nvSpPr>
          <p:cNvPr id="7" name="Text 5"/>
          <p:cNvSpPr/>
          <p:nvPr/>
        </p:nvSpPr>
        <p:spPr>
          <a:xfrm>
            <a:off x="965176" y="5710535"/>
            <a:ext cx="7010225" cy="181570"/>
          </a:xfrm>
          <a:prstGeom prst="rect">
            <a:avLst/>
          </a:prstGeom>
          <a:noFill/>
          <a:ln/>
        </p:spPr>
        <p:txBody>
          <a:bodyPr wrap="none" lIns="0" tIns="0" rIns="0" bIns="0" rtlCol="0" anchor="t"/>
          <a:lstStyle/>
          <a:p>
            <a:pPr algn="l" indent="0" marL="0">
              <a:lnSpc>
                <a:spcPct val="108000"/>
              </a:lnSpc>
              <a:buNone/>
            </a:pPr>
            <a:r>
              <a:rPr lang="en-US" sz="1100" spc="88" kern="0" dirty="0">
                <a:solidFill>
                  <a:srgbClr val="95A199"/>
                </a:solidFill>
                <a:latin typeface="Martian Mono" pitchFamily="34" charset="0"/>
                <a:ea typeface="Martian Mono" pitchFamily="34" charset="-122"/>
                <a:cs typeface="Martian Mono" pitchFamily="34" charset="-120"/>
              </a:rPr>
              <a:t>SOURCE · CUSTOMER SHOPPING BEHAVIOR ANALYSIS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189" y="457200"/>
            <a:ext cx="6217784" cy="159246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EEF0EA"/>
                </a:solidFill>
                <a:latin typeface="Big Shoulders ExtraBold" pitchFamily="34" charset="0"/>
                <a:ea typeface="Big Shoulders ExtraBold" pitchFamily="34" charset="-122"/>
                <a:cs typeface="Big Shoulders ExtraBold" pitchFamily="34" charset="-120"/>
              </a:rPr>
              <a:t>THE DATASET IS BROAD ENOUGH TO CONNECT BEHAVIOR TO ACTION</a:t>
            </a:r>
            <a:endParaRPr lang="en-US" sz="4400" dirty="0"/>
          </a:p>
        </p:txBody>
      </p:sp>
      <p:sp>
        <p:nvSpPr>
          <p:cNvPr id="3" name="Text 1"/>
          <p:cNvSpPr/>
          <p:nvPr/>
        </p:nvSpPr>
        <p:spPr>
          <a:xfrm>
            <a:off x="457189" y="2198886"/>
            <a:ext cx="6674973" cy="266700"/>
          </a:xfrm>
          <a:prstGeom prst="rect">
            <a:avLst/>
          </a:prstGeom>
          <a:noFill/>
          <a:ln/>
        </p:spPr>
        <p:txBody>
          <a:bodyPr wrap="none" lIns="0" tIns="0" rIns="0" bIns="0" rtlCol="0" anchor="t"/>
          <a:lstStyle/>
          <a:p>
            <a:pPr algn="l" indent="0" marL="0">
              <a:lnSpc>
                <a:spcPct val="117000"/>
              </a:lnSpc>
              <a:buNone/>
            </a:pPr>
            <a:r>
              <a:rPr lang="en-US" sz="1500" dirty="0">
                <a:solidFill>
                  <a:srgbClr val="C9CFC8"/>
                </a:solidFill>
                <a:latin typeface="Hubot Sans" pitchFamily="34" charset="0"/>
                <a:ea typeface="Hubot Sans" pitchFamily="34" charset="-122"/>
                <a:cs typeface="Hubot Sans" pitchFamily="34" charset="-120"/>
              </a:rPr>
              <a:t>A wide behavioral view, not a single sales cut.</a:t>
            </a:r>
            <a:endParaRPr lang="en-US" sz="1500" dirty="0"/>
          </a:p>
        </p:txBody>
      </p:sp>
      <p:sp>
        <p:nvSpPr>
          <p:cNvPr id="4" name="Text 2"/>
          <p:cNvSpPr/>
          <p:nvPr/>
        </p:nvSpPr>
        <p:spPr>
          <a:xfrm>
            <a:off x="457189" y="5024338"/>
            <a:ext cx="6217784" cy="95994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C9CFC8"/>
                </a:solidFill>
                <a:latin typeface="Hubot Sans" pitchFamily="34" charset="0"/>
                <a:ea typeface="Hubot Sans" pitchFamily="34" charset="-122"/>
                <a:cs typeface="Hubot Sans" pitchFamily="34" charset="-120"/>
              </a:rPr>
              <a:t>3,900 transactions across 18 columns cover demographics, products, spend, shipping, discounts, ratings, subscriptions, and purchase frequency.</a:t>
            </a:r>
            <a:endParaRPr lang="en-US" sz="1800" dirty="0"/>
          </a:p>
        </p:txBody>
      </p:sp>
      <p:sp>
        <p:nvSpPr>
          <p:cNvPr id="5" name="Text 3"/>
          <p:cNvSpPr/>
          <p:nvPr/>
        </p:nvSpPr>
        <p:spPr>
          <a:xfrm>
            <a:off x="457189" y="6117630"/>
            <a:ext cx="6217784" cy="283170"/>
          </a:xfrm>
          <a:prstGeom prst="rect">
            <a:avLst/>
          </a:prstGeom>
          <a:noFill/>
          <a:ln/>
        </p:spPr>
        <p:txBody>
          <a:bodyPr wrap="square" lIns="0" tIns="101598" rIns="0" bIns="0" rtlCol="0" anchor="t">
            <a:normAutofit/>
          </a:bodyPr>
          <a:lstStyle/>
          <a:p>
            <a:pPr algn="l" indent="0" marL="0">
              <a:lnSpc>
                <a:spcPct val="108000"/>
              </a:lnSpc>
              <a:buNone/>
            </a:pPr>
            <a:r>
              <a:rPr lang="en-US" sz="1100" spc="88" kern="0" dirty="0">
                <a:solidFill>
                  <a:srgbClr val="95A199"/>
                </a:solidFill>
                <a:latin typeface="Martian Mono" pitchFamily="34" charset="0"/>
                <a:ea typeface="Martian Mono" pitchFamily="34" charset="-122"/>
                <a:cs typeface="Martian Mono" pitchFamily="34" charset="-120"/>
              </a:rPr>
              <a:t>SOURCE · CUSTOMER SHOPPING BEHAVIOR ANALYSIS</a:t>
            </a:r>
            <a:endParaRPr lang="en-US" sz="1100" dirty="0"/>
          </a:p>
        </p:txBody>
      </p:sp>
      <p:sp>
        <p:nvSpPr>
          <p:cNvPr id="6" name="Text 4"/>
          <p:cNvSpPr/>
          <p:nvPr/>
        </p:nvSpPr>
        <p:spPr>
          <a:xfrm>
            <a:off x="7436855" y="417711"/>
            <a:ext cx="4526246"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CUSTOMERS</a:t>
            </a:r>
            <a:endParaRPr lang="en-US" sz="1100" dirty="0"/>
          </a:p>
        </p:txBody>
      </p:sp>
      <p:sp>
        <p:nvSpPr>
          <p:cNvPr id="7" name="Text 5"/>
          <p:cNvSpPr/>
          <p:nvPr/>
        </p:nvSpPr>
        <p:spPr>
          <a:xfrm>
            <a:off x="7436855" y="732631"/>
            <a:ext cx="4526246" cy="325735"/>
          </a:xfrm>
          <a:prstGeom prst="rect">
            <a:avLst/>
          </a:prstGeom>
          <a:noFill/>
          <a:ln/>
        </p:spPr>
        <p:txBody>
          <a:bodyPr wrap="none" lIns="0" tIns="0" rIns="0" bIns="0" rtlCol="0" anchor="t"/>
          <a:lstStyle/>
          <a:p>
            <a:pPr algn="l" indent="0" marL="0">
              <a:lnSpc>
                <a:spcPct val="113000"/>
              </a:lnSpc>
              <a:buNone/>
            </a:pPr>
            <a:r>
              <a:rPr lang="en-US" sz="1900" dirty="0">
                <a:solidFill>
                  <a:srgbClr val="EEF0EA"/>
                </a:solidFill>
                <a:latin typeface="Hubot Sans" pitchFamily="34" charset="0"/>
                <a:ea typeface="Hubot Sans" pitchFamily="34" charset="-122"/>
                <a:cs typeface="Hubot Sans" pitchFamily="34" charset="-120"/>
              </a:rPr>
              <a:t>Who buys</a:t>
            </a:r>
            <a:endParaRPr lang="en-US" sz="1900" dirty="0"/>
          </a:p>
        </p:txBody>
      </p:sp>
      <p:sp>
        <p:nvSpPr>
          <p:cNvPr id="8" name="Text 6"/>
          <p:cNvSpPr/>
          <p:nvPr/>
        </p:nvSpPr>
        <p:spPr>
          <a:xfrm>
            <a:off x="7436855" y="2046188"/>
            <a:ext cx="4526246"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PRODUCTS</a:t>
            </a:r>
            <a:endParaRPr lang="en-US" sz="1100" dirty="0"/>
          </a:p>
        </p:txBody>
      </p:sp>
      <p:sp>
        <p:nvSpPr>
          <p:cNvPr id="9" name="Text 7"/>
          <p:cNvSpPr/>
          <p:nvPr/>
        </p:nvSpPr>
        <p:spPr>
          <a:xfrm>
            <a:off x="7436855" y="2361109"/>
            <a:ext cx="4526246" cy="325735"/>
          </a:xfrm>
          <a:prstGeom prst="rect">
            <a:avLst/>
          </a:prstGeom>
          <a:noFill/>
          <a:ln/>
        </p:spPr>
        <p:txBody>
          <a:bodyPr wrap="none" lIns="0" tIns="0" rIns="0" bIns="0" rtlCol="0" anchor="t"/>
          <a:lstStyle/>
          <a:p>
            <a:pPr algn="l" indent="0" marL="0">
              <a:lnSpc>
                <a:spcPct val="113000"/>
              </a:lnSpc>
              <a:buNone/>
            </a:pPr>
            <a:r>
              <a:rPr lang="en-US" sz="1900" dirty="0">
                <a:solidFill>
                  <a:srgbClr val="EEF0EA"/>
                </a:solidFill>
                <a:latin typeface="Hubot Sans" pitchFamily="34" charset="0"/>
                <a:ea typeface="Hubot Sans" pitchFamily="34" charset="-122"/>
                <a:cs typeface="Hubot Sans" pitchFamily="34" charset="-120"/>
              </a:rPr>
              <a:t>What they choose</a:t>
            </a:r>
            <a:endParaRPr lang="en-US" sz="1900" dirty="0"/>
          </a:p>
        </p:txBody>
      </p:sp>
      <p:sp>
        <p:nvSpPr>
          <p:cNvPr id="10" name="Text 8"/>
          <p:cNvSpPr/>
          <p:nvPr/>
        </p:nvSpPr>
        <p:spPr>
          <a:xfrm>
            <a:off x="7436855" y="3674666"/>
            <a:ext cx="4526246"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LOCATIONS</a:t>
            </a:r>
            <a:endParaRPr lang="en-US" sz="1100" dirty="0"/>
          </a:p>
        </p:txBody>
      </p:sp>
      <p:sp>
        <p:nvSpPr>
          <p:cNvPr id="11" name="Text 9"/>
          <p:cNvSpPr/>
          <p:nvPr/>
        </p:nvSpPr>
        <p:spPr>
          <a:xfrm>
            <a:off x="7436855" y="3989586"/>
            <a:ext cx="4526246" cy="325735"/>
          </a:xfrm>
          <a:prstGeom prst="rect">
            <a:avLst/>
          </a:prstGeom>
          <a:noFill/>
          <a:ln/>
        </p:spPr>
        <p:txBody>
          <a:bodyPr wrap="none" lIns="0" tIns="0" rIns="0" bIns="0" rtlCol="0" anchor="t"/>
          <a:lstStyle/>
          <a:p>
            <a:pPr algn="l" indent="0" marL="0">
              <a:lnSpc>
                <a:spcPct val="113000"/>
              </a:lnSpc>
              <a:buNone/>
            </a:pPr>
            <a:r>
              <a:rPr lang="en-US" sz="1900" dirty="0">
                <a:solidFill>
                  <a:srgbClr val="EEF0EA"/>
                </a:solidFill>
                <a:latin typeface="Hubot Sans" pitchFamily="34" charset="0"/>
                <a:ea typeface="Hubot Sans" pitchFamily="34" charset="-122"/>
                <a:cs typeface="Hubot Sans" pitchFamily="34" charset="-120"/>
              </a:rPr>
              <a:t>Where demand sits</a:t>
            </a:r>
            <a:endParaRPr lang="en-US" sz="1900" dirty="0"/>
          </a:p>
        </p:txBody>
      </p:sp>
      <p:sp>
        <p:nvSpPr>
          <p:cNvPr id="12" name="Text 10"/>
          <p:cNvSpPr/>
          <p:nvPr/>
        </p:nvSpPr>
        <p:spPr>
          <a:xfrm>
            <a:off x="7436855" y="5303143"/>
            <a:ext cx="4526246"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BEHAVIOR SIGNALS</a:t>
            </a:r>
            <a:endParaRPr lang="en-US" sz="1100" dirty="0"/>
          </a:p>
        </p:txBody>
      </p:sp>
      <p:sp>
        <p:nvSpPr>
          <p:cNvPr id="13" name="Text 11"/>
          <p:cNvSpPr/>
          <p:nvPr/>
        </p:nvSpPr>
        <p:spPr>
          <a:xfrm>
            <a:off x="7436855" y="5618063"/>
            <a:ext cx="4526246" cy="325735"/>
          </a:xfrm>
          <a:prstGeom prst="rect">
            <a:avLst/>
          </a:prstGeom>
          <a:noFill/>
          <a:ln/>
        </p:spPr>
        <p:txBody>
          <a:bodyPr wrap="none" lIns="0" tIns="0" rIns="0" bIns="0" rtlCol="0" anchor="t"/>
          <a:lstStyle/>
          <a:p>
            <a:pPr algn="l" indent="0" marL="0">
              <a:lnSpc>
                <a:spcPct val="113000"/>
              </a:lnSpc>
              <a:buNone/>
            </a:pPr>
            <a:r>
              <a:rPr lang="en-US" sz="1900" dirty="0">
                <a:solidFill>
                  <a:srgbClr val="EEF0EA"/>
                </a:solidFill>
                <a:latin typeface="Hubot Sans" pitchFamily="34" charset="0"/>
                <a:ea typeface="Hubot Sans" pitchFamily="34" charset="-122"/>
                <a:cs typeface="Hubot Sans" pitchFamily="34" charset="-120"/>
              </a:rPr>
              <a:t>How they return</a:t>
            </a:r>
            <a:endParaRPr lang="en-US" sz="1900" dirty="0"/>
          </a:p>
        </p:txBody>
      </p:sp>
      <p:sp>
        <p:nvSpPr>
          <p:cNvPr id="14" name="Text 12"/>
          <p:cNvSpPr/>
          <p:nvPr/>
        </p:nvSpPr>
        <p:spPr>
          <a:xfrm>
            <a:off x="7436855" y="6342459"/>
            <a:ext cx="4526246" cy="363141"/>
          </a:xfrm>
          <a:prstGeom prst="rect">
            <a:avLst/>
          </a:prstGeom>
          <a:noFill/>
          <a:ln/>
        </p:spPr>
        <p:txBody>
          <a:bodyPr wrap="square" lIns="0" tIns="0" rIns="0" bIns="0" rtlCol="0" anchor="t">
            <a:normAutofit/>
          </a:bodyPr>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37 REVIEW RATINGS MISSING · IMPUTED BY PRODUCT-CATEGORY MEDIAN</a:t>
            </a:r>
            <a:endParaRPr lang="en-US" sz="1100" dirty="0"/>
          </a:p>
        </p:txBody>
      </p:sp>
      <p:sp>
        <p:nvSpPr>
          <p:cNvPr id="15" name="Shape 13"/>
          <p:cNvSpPr/>
          <p:nvPr/>
        </p:nvSpPr>
        <p:spPr>
          <a:xfrm>
            <a:off x="7436855" y="1545927"/>
            <a:ext cx="4526246" cy="12700"/>
          </a:xfrm>
          <a:prstGeom prst="rect">
            <a:avLst/>
          </a:prstGeom>
          <a:solidFill>
            <a:srgbClr val="2C3832"/>
          </a:solidFill>
          <a:ln/>
        </p:spPr>
      </p:sp>
      <p:sp>
        <p:nvSpPr>
          <p:cNvPr id="16" name="Shape 14"/>
          <p:cNvSpPr/>
          <p:nvPr/>
        </p:nvSpPr>
        <p:spPr>
          <a:xfrm>
            <a:off x="7436855" y="3174405"/>
            <a:ext cx="4526246" cy="12700"/>
          </a:xfrm>
          <a:prstGeom prst="rect">
            <a:avLst/>
          </a:prstGeom>
          <a:solidFill>
            <a:srgbClr val="2C3832"/>
          </a:solidFill>
          <a:ln/>
        </p:spPr>
      </p:sp>
      <p:sp>
        <p:nvSpPr>
          <p:cNvPr id="17" name="Shape 15"/>
          <p:cNvSpPr/>
          <p:nvPr/>
        </p:nvSpPr>
        <p:spPr>
          <a:xfrm>
            <a:off x="7436855" y="4802882"/>
            <a:ext cx="4526246" cy="12700"/>
          </a:xfrm>
          <a:prstGeom prst="rect">
            <a:avLst/>
          </a:prstGeom>
          <a:solidFill>
            <a:srgbClr val="2C3832"/>
          </a:solidFill>
          <a:ln/>
        </p:spPr>
      </p:sp>
      <p:sp>
        <p:nvSpPr>
          <p:cNvPr id="18" name="Text 16"/>
          <p:cNvSpPr/>
          <p:nvPr/>
        </p:nvSpPr>
        <p:spPr>
          <a:xfrm>
            <a:off x="11573280" y="6540500"/>
            <a:ext cx="618415" cy="177800"/>
          </a:xfrm>
          <a:prstGeom prst="rect">
            <a:avLst/>
          </a:prstGeom>
          <a:noFill/>
          <a:ln/>
        </p:spPr>
        <p:txBody>
          <a:bodyPr wrap="none" lIns="0" tIns="0" rIns="0" bIns="0" rtlCol="0" anchor="ctr"/>
          <a:lstStyle/>
          <a:p>
            <a:pPr algn="l" indent="0" marL="0">
              <a:lnSpc>
                <a:spcPct val="117000"/>
              </a:lnSpc>
              <a:buNone/>
            </a:pPr>
            <a:r>
              <a:rPr lang="en-US" sz="1000" dirty="0">
                <a:solidFill>
                  <a:srgbClr val="C9CFC8"/>
                </a:solidFill>
                <a:latin typeface="Hubot Sans" pitchFamily="34" charset="0"/>
                <a:ea typeface="Hubot Sans" pitchFamily="34" charset="-122"/>
                <a:cs typeface="Hubot San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57200"/>
            <a:ext cx="5735196" cy="159246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EEF0EA"/>
                </a:solidFill>
                <a:latin typeface="Big Shoulders ExtraBold" pitchFamily="34" charset="0"/>
                <a:ea typeface="Big Shoulders ExtraBold" pitchFamily="34" charset="-122"/>
                <a:cs typeface="Big Shoulders ExtraBold" pitchFamily="34" charset="-120"/>
              </a:rPr>
              <a:t>THE CORE OPPORTUNITY IS RETENTION, NOT AVERAGE ORDER VALUE</a:t>
            </a:r>
            <a:endParaRPr lang="en-US" sz="4400" dirty="0"/>
          </a:p>
        </p:txBody>
      </p:sp>
      <p:sp>
        <p:nvSpPr>
          <p:cNvPr id="3" name="Text 1"/>
          <p:cNvSpPr/>
          <p:nvPr/>
        </p:nvSpPr>
        <p:spPr>
          <a:xfrm>
            <a:off x="457189" y="2198886"/>
            <a:ext cx="6192385" cy="266700"/>
          </a:xfrm>
          <a:prstGeom prst="rect">
            <a:avLst/>
          </a:prstGeom>
          <a:noFill/>
          <a:ln/>
        </p:spPr>
        <p:txBody>
          <a:bodyPr wrap="none" lIns="0" tIns="0" rIns="0" bIns="0" rtlCol="0" anchor="t"/>
          <a:lstStyle/>
          <a:p>
            <a:pPr algn="l" indent="0" marL="0">
              <a:lnSpc>
                <a:spcPct val="117000"/>
              </a:lnSpc>
              <a:buNone/>
            </a:pPr>
            <a:r>
              <a:rPr lang="en-US" sz="1500" dirty="0">
                <a:solidFill>
                  <a:srgbClr val="C9CFC8"/>
                </a:solidFill>
                <a:latin typeface="Hubot Sans" pitchFamily="34" charset="0"/>
                <a:ea typeface="Hubot Sans" pitchFamily="34" charset="-122"/>
                <a:cs typeface="Hubot Sans" pitchFamily="34" charset="-120"/>
              </a:rPr>
              <a:t>Subscribers are not spending more per purchase today.</a:t>
            </a:r>
            <a:endParaRPr lang="en-US" sz="1500" dirty="0"/>
          </a:p>
        </p:txBody>
      </p:sp>
      <p:sp>
        <p:nvSpPr>
          <p:cNvPr id="4" name="Shape 2"/>
          <p:cNvSpPr/>
          <p:nvPr/>
        </p:nvSpPr>
        <p:spPr>
          <a:xfrm>
            <a:off x="457189" y="2598936"/>
            <a:ext cx="1860900" cy="3135114"/>
          </a:xfrm>
          <a:prstGeom prst="rect">
            <a:avLst/>
          </a:prstGeom>
          <a:solidFill>
            <a:srgbClr val="17211C"/>
          </a:solidFill>
          <a:ln/>
        </p:spPr>
      </p:sp>
      <p:sp>
        <p:nvSpPr>
          <p:cNvPr id="5" name="Text 3"/>
          <p:cNvSpPr/>
          <p:nvPr/>
        </p:nvSpPr>
        <p:spPr>
          <a:xfrm>
            <a:off x="558786" y="2700536"/>
            <a:ext cx="1759303"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C9CFC8"/>
                </a:solidFill>
                <a:latin typeface="Martian Mono" pitchFamily="34" charset="0"/>
                <a:ea typeface="Martian Mono" pitchFamily="34" charset="-122"/>
                <a:cs typeface="Martian Mono" pitchFamily="34" charset="-120"/>
              </a:rPr>
              <a:t>LOYAL</a:t>
            </a:r>
            <a:endParaRPr lang="en-US" sz="1100" dirty="0"/>
          </a:p>
        </p:txBody>
      </p:sp>
      <p:sp>
        <p:nvSpPr>
          <p:cNvPr id="6" name="Text 4"/>
          <p:cNvSpPr/>
          <p:nvPr/>
        </p:nvSpPr>
        <p:spPr>
          <a:xfrm>
            <a:off x="558786" y="3015456"/>
            <a:ext cx="1657705" cy="381000"/>
          </a:xfrm>
          <a:prstGeom prst="rect">
            <a:avLst/>
          </a:prstGeom>
          <a:noFill/>
          <a:ln/>
        </p:spPr>
        <p:txBody>
          <a:bodyPr wrap="none" lIns="0" tIns="0" rIns="0" bIns="0" rtlCol="0" anchor="t"/>
          <a:lstStyle/>
          <a:p>
            <a:pPr algn="l" indent="0" marL="0">
              <a:lnSpc>
                <a:spcPct val="83000"/>
              </a:lnSpc>
              <a:buNone/>
            </a:pPr>
            <a:r>
              <a:rPr lang="en-US" sz="3000" spc="-60" kern="0" dirty="0">
                <a:solidFill>
                  <a:srgbClr val="C9CFC8"/>
                </a:solidFill>
                <a:latin typeface="Martian Mono Medium" pitchFamily="34" charset="0"/>
                <a:ea typeface="Martian Mono Medium" pitchFamily="34" charset="-122"/>
                <a:cs typeface="Martian Mono Medium" pitchFamily="34" charset="-120"/>
              </a:rPr>
              <a:t>3,116</a:t>
            </a:r>
            <a:endParaRPr lang="en-US" sz="3000" dirty="0"/>
          </a:p>
        </p:txBody>
      </p:sp>
      <p:sp>
        <p:nvSpPr>
          <p:cNvPr id="7" name="Text 5"/>
          <p:cNvSpPr/>
          <p:nvPr/>
        </p:nvSpPr>
        <p:spPr>
          <a:xfrm>
            <a:off x="558786" y="3545681"/>
            <a:ext cx="1759303" cy="231080"/>
          </a:xfrm>
          <a:prstGeom prst="rect">
            <a:avLst/>
          </a:prstGeom>
          <a:noFill/>
          <a:ln/>
        </p:spPr>
        <p:txBody>
          <a:bodyPr wrap="none" lIns="0" tIns="0" rIns="0" bIns="0" rtlCol="0" anchor="t"/>
          <a:lstStyle/>
          <a:p>
            <a:pPr algn="l" indent="0" marL="0">
              <a:lnSpc>
                <a:spcPct val="117000"/>
              </a:lnSpc>
              <a:buNone/>
            </a:pPr>
            <a:r>
              <a:rPr lang="en-US" sz="1300" spc="52" kern="0" dirty="0">
                <a:solidFill>
                  <a:srgbClr val="FFB000"/>
                </a:solidFill>
                <a:latin typeface="Martian Mono" pitchFamily="34" charset="0"/>
                <a:ea typeface="Martian Mono" pitchFamily="34" charset="-122"/>
                <a:cs typeface="Martian Mono" pitchFamily="34" charset="-120"/>
              </a:rPr>
              <a:t>CUSTOMERS</a:t>
            </a:r>
            <a:endParaRPr lang="en-US" sz="1300" dirty="0"/>
          </a:p>
        </p:txBody>
      </p:sp>
      <p:sp>
        <p:nvSpPr>
          <p:cNvPr id="8" name="Shape 6"/>
          <p:cNvSpPr/>
          <p:nvPr/>
        </p:nvSpPr>
        <p:spPr>
          <a:xfrm>
            <a:off x="2394287" y="2598936"/>
            <a:ext cx="1860900" cy="3135114"/>
          </a:xfrm>
          <a:prstGeom prst="rect">
            <a:avLst/>
          </a:prstGeom>
          <a:solidFill>
            <a:srgbClr val="17211C"/>
          </a:solidFill>
          <a:ln/>
        </p:spPr>
      </p:sp>
      <p:sp>
        <p:nvSpPr>
          <p:cNvPr id="9" name="Text 7"/>
          <p:cNvSpPr/>
          <p:nvPr/>
        </p:nvSpPr>
        <p:spPr>
          <a:xfrm>
            <a:off x="2495884" y="2700536"/>
            <a:ext cx="1759303"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C9CFC8"/>
                </a:solidFill>
                <a:latin typeface="Martian Mono" pitchFamily="34" charset="0"/>
                <a:ea typeface="Martian Mono" pitchFamily="34" charset="-122"/>
                <a:cs typeface="Martian Mono" pitchFamily="34" charset="-120"/>
              </a:rPr>
              <a:t>SUBSCRIBERS</a:t>
            </a:r>
            <a:endParaRPr lang="en-US" sz="1100" dirty="0"/>
          </a:p>
        </p:txBody>
      </p:sp>
      <p:sp>
        <p:nvSpPr>
          <p:cNvPr id="10" name="Text 8"/>
          <p:cNvSpPr/>
          <p:nvPr/>
        </p:nvSpPr>
        <p:spPr>
          <a:xfrm>
            <a:off x="2495884" y="3015456"/>
            <a:ext cx="1657705" cy="381000"/>
          </a:xfrm>
          <a:prstGeom prst="rect">
            <a:avLst/>
          </a:prstGeom>
          <a:noFill/>
          <a:ln/>
        </p:spPr>
        <p:txBody>
          <a:bodyPr wrap="none" lIns="0" tIns="0" rIns="0" bIns="0" rtlCol="0" anchor="t"/>
          <a:lstStyle/>
          <a:p>
            <a:pPr algn="l" indent="0" marL="0">
              <a:lnSpc>
                <a:spcPct val="83000"/>
              </a:lnSpc>
              <a:buNone/>
            </a:pPr>
            <a:r>
              <a:rPr lang="en-US" sz="3000" spc="-60" kern="0" dirty="0">
                <a:solidFill>
                  <a:srgbClr val="C9CFC8"/>
                </a:solidFill>
                <a:latin typeface="Martian Mono Medium" pitchFamily="34" charset="0"/>
                <a:ea typeface="Martian Mono Medium" pitchFamily="34" charset="-122"/>
                <a:cs typeface="Martian Mono Medium" pitchFamily="34" charset="-120"/>
              </a:rPr>
              <a:t>27%</a:t>
            </a:r>
            <a:endParaRPr lang="en-US" sz="3000" dirty="0"/>
          </a:p>
        </p:txBody>
      </p:sp>
      <p:sp>
        <p:nvSpPr>
          <p:cNvPr id="11" name="Text 9"/>
          <p:cNvSpPr/>
          <p:nvPr/>
        </p:nvSpPr>
        <p:spPr>
          <a:xfrm>
            <a:off x="2495884" y="3545681"/>
            <a:ext cx="1759303" cy="231080"/>
          </a:xfrm>
          <a:prstGeom prst="rect">
            <a:avLst/>
          </a:prstGeom>
          <a:noFill/>
          <a:ln/>
        </p:spPr>
        <p:txBody>
          <a:bodyPr wrap="none" lIns="0" tIns="0" rIns="0" bIns="0" rtlCol="0" anchor="t"/>
          <a:lstStyle/>
          <a:p>
            <a:pPr algn="l" indent="0" marL="0">
              <a:lnSpc>
                <a:spcPct val="117000"/>
              </a:lnSpc>
              <a:buNone/>
            </a:pPr>
            <a:r>
              <a:rPr lang="en-US" sz="1300" spc="52" kern="0" dirty="0">
                <a:solidFill>
                  <a:srgbClr val="FF4D3D"/>
                </a:solidFill>
                <a:latin typeface="Martian Mono" pitchFamily="34" charset="0"/>
                <a:ea typeface="Martian Mono" pitchFamily="34" charset="-122"/>
                <a:cs typeface="Martian Mono" pitchFamily="34" charset="-120"/>
              </a:rPr>
              <a:t>OF CUSTOMERS</a:t>
            </a:r>
            <a:endParaRPr lang="en-US" sz="1300" dirty="0"/>
          </a:p>
        </p:txBody>
      </p:sp>
      <p:sp>
        <p:nvSpPr>
          <p:cNvPr id="12" name="Shape 10"/>
          <p:cNvSpPr/>
          <p:nvPr/>
        </p:nvSpPr>
        <p:spPr>
          <a:xfrm>
            <a:off x="4331385" y="2598936"/>
            <a:ext cx="1861000" cy="3135114"/>
          </a:xfrm>
          <a:prstGeom prst="rect">
            <a:avLst/>
          </a:prstGeom>
          <a:solidFill>
            <a:srgbClr val="17211C"/>
          </a:solidFill>
          <a:ln/>
        </p:spPr>
      </p:sp>
      <p:sp>
        <p:nvSpPr>
          <p:cNvPr id="13" name="Text 11"/>
          <p:cNvSpPr/>
          <p:nvPr/>
        </p:nvSpPr>
        <p:spPr>
          <a:xfrm>
            <a:off x="4432983" y="2700536"/>
            <a:ext cx="1759402"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C9CFC8"/>
                </a:solidFill>
                <a:latin typeface="Martian Mono" pitchFamily="34" charset="0"/>
                <a:ea typeface="Martian Mono" pitchFamily="34" charset="-122"/>
                <a:cs typeface="Martian Mono" pitchFamily="34" charset="-120"/>
              </a:rPr>
              <a:t>AVG SPEND GAP</a:t>
            </a:r>
            <a:endParaRPr lang="en-US" sz="1100" dirty="0"/>
          </a:p>
        </p:txBody>
      </p:sp>
      <p:sp>
        <p:nvSpPr>
          <p:cNvPr id="14" name="Text 12"/>
          <p:cNvSpPr/>
          <p:nvPr/>
        </p:nvSpPr>
        <p:spPr>
          <a:xfrm>
            <a:off x="4432983" y="3015456"/>
            <a:ext cx="1657805" cy="381000"/>
          </a:xfrm>
          <a:prstGeom prst="rect">
            <a:avLst/>
          </a:prstGeom>
          <a:noFill/>
          <a:ln/>
        </p:spPr>
        <p:txBody>
          <a:bodyPr wrap="none" lIns="0" tIns="0" rIns="0" bIns="0" rtlCol="0" anchor="t"/>
          <a:lstStyle/>
          <a:p>
            <a:pPr algn="l" indent="0" marL="0">
              <a:lnSpc>
                <a:spcPct val="83000"/>
              </a:lnSpc>
              <a:buNone/>
            </a:pPr>
            <a:r>
              <a:rPr lang="en-US" sz="3000" spc="-60" kern="0" dirty="0">
                <a:solidFill>
                  <a:srgbClr val="C9CFC8"/>
                </a:solidFill>
                <a:latin typeface="Martian Mono Medium" pitchFamily="34" charset="0"/>
                <a:ea typeface="Martian Mono Medium" pitchFamily="34" charset="-122"/>
                <a:cs typeface="Martian Mono Medium" pitchFamily="34" charset="-120"/>
              </a:rPr>
              <a:t>$0.38</a:t>
            </a:r>
            <a:endParaRPr lang="en-US" sz="3000" dirty="0"/>
          </a:p>
        </p:txBody>
      </p:sp>
      <p:sp>
        <p:nvSpPr>
          <p:cNvPr id="15" name="Text 13"/>
          <p:cNvSpPr/>
          <p:nvPr/>
        </p:nvSpPr>
        <p:spPr>
          <a:xfrm>
            <a:off x="4432983" y="3545681"/>
            <a:ext cx="1657805" cy="693241"/>
          </a:xfrm>
          <a:prstGeom prst="rect">
            <a:avLst/>
          </a:prstGeom>
          <a:noFill/>
          <a:ln/>
        </p:spPr>
        <p:txBody>
          <a:bodyPr wrap="square" lIns="0" tIns="0" rIns="0" bIns="0" rtlCol="0" anchor="t">
            <a:normAutofit/>
          </a:bodyPr>
          <a:lstStyle/>
          <a:p>
            <a:pPr algn="l" indent="0" marL="0">
              <a:lnSpc>
                <a:spcPct val="117000"/>
              </a:lnSpc>
              <a:buNone/>
            </a:pPr>
            <a:r>
              <a:rPr lang="en-US" sz="1300" spc="52" kern="0" dirty="0">
                <a:solidFill>
                  <a:srgbClr val="95A199"/>
                </a:solidFill>
                <a:latin typeface="Martian Mono" pitchFamily="34" charset="0"/>
                <a:ea typeface="Martian Mono" pitchFamily="34" charset="-122"/>
                <a:cs typeface="Martian Mono" pitchFamily="34" charset="-120"/>
              </a:rPr>
              <a:t>NON-SUBSCRIBERS HIGHER</a:t>
            </a:r>
            <a:endParaRPr lang="en-US" sz="1300" dirty="0"/>
          </a:p>
        </p:txBody>
      </p:sp>
      <p:sp>
        <p:nvSpPr>
          <p:cNvPr id="16" name="Text 14"/>
          <p:cNvSpPr/>
          <p:nvPr/>
        </p:nvSpPr>
        <p:spPr>
          <a:xfrm>
            <a:off x="457189" y="5867400"/>
            <a:ext cx="5735196"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C9CFC8"/>
                </a:solidFill>
                <a:latin typeface="Hubot Sans" pitchFamily="34" charset="0"/>
                <a:ea typeface="Hubot Sans" pitchFamily="34" charset="-122"/>
                <a:cs typeface="Hubot Sans" pitchFamily="34" charset="-120"/>
              </a:rPr>
              <a:t>Build the growth case around frequency, benefits, and loyalty—not basket size alone.</a:t>
            </a:r>
            <a:endParaRPr lang="en-US" sz="1500" dirty="0"/>
          </a:p>
        </p:txBody>
      </p:sp>
      <p:pic>
        <p:nvPicPr>
          <p:cNvPr id="17" name="Image 0" descr="preencoded.png">    </p:cNvPr>
          <p:cNvPicPr>
            <a:picLocks noChangeAspect="1"/>
          </p:cNvPicPr>
          <p:nvPr/>
        </p:nvPicPr>
        <p:blipFill>
          <a:blip r:embed="rId1"/>
          <a:stretch>
            <a:fillRect/>
          </a:stretch>
        </p:blipFill>
        <p:spPr>
          <a:xfrm>
            <a:off x="7106663" y="0"/>
            <a:ext cx="5085032" cy="6172200"/>
          </a:xfrm>
          <a:prstGeom prst="rect">
            <a:avLst/>
          </a:prstGeom>
        </p:spPr>
      </p:pic>
      <p:sp>
        <p:nvSpPr>
          <p:cNvPr id="18" name="Text 15"/>
          <p:cNvSpPr/>
          <p:nvPr/>
        </p:nvSpPr>
        <p:spPr>
          <a:xfrm>
            <a:off x="7284458" y="6350000"/>
            <a:ext cx="4729441" cy="283170"/>
          </a:xfrm>
          <a:prstGeom prst="rect">
            <a:avLst/>
          </a:prstGeom>
          <a:noFill/>
          <a:ln/>
        </p:spPr>
        <p:txBody>
          <a:bodyPr wrap="square" lIns="0" tIns="101598" rIns="0" bIns="0" rtlCol="0" anchor="t">
            <a:normAutofit/>
          </a:bodyPr>
          <a:lstStyle/>
          <a:p>
            <a:pPr algn="l" indent="0" marL="0">
              <a:lnSpc>
                <a:spcPct val="108000"/>
              </a:lnSpc>
              <a:buNone/>
            </a:pPr>
            <a:r>
              <a:rPr lang="en-US" sz="1100" spc="88" kern="0" dirty="0">
                <a:solidFill>
                  <a:srgbClr val="95A199"/>
                </a:solidFill>
                <a:latin typeface="Martian Mono" pitchFamily="34" charset="0"/>
                <a:ea typeface="Martian Mono" pitchFamily="34" charset="-122"/>
                <a:cs typeface="Martian Mono" pitchFamily="34" charset="-120"/>
              </a:rPr>
              <a:t>CONTEXT · LOYALTY AND SUBSCRIPTION SIGNALS</a:t>
            </a:r>
            <a:endParaRPr lang="en-US" sz="1100" dirty="0"/>
          </a:p>
        </p:txBody>
      </p:sp>
      <p:sp>
        <p:nvSpPr>
          <p:cNvPr id="19" name="Text 16"/>
          <p:cNvSpPr/>
          <p:nvPr/>
        </p:nvSpPr>
        <p:spPr>
          <a:xfrm>
            <a:off x="11572685" y="6540500"/>
            <a:ext cx="619010" cy="177800"/>
          </a:xfrm>
          <a:prstGeom prst="rect">
            <a:avLst/>
          </a:prstGeom>
          <a:noFill/>
          <a:ln/>
        </p:spPr>
        <p:txBody>
          <a:bodyPr wrap="none" lIns="0" tIns="0" rIns="0" bIns="0" rtlCol="0" anchor="ctr"/>
          <a:lstStyle/>
          <a:p>
            <a:pPr algn="l" indent="0" marL="0">
              <a:lnSpc>
                <a:spcPct val="117000"/>
              </a:lnSpc>
              <a:buNone/>
            </a:pPr>
            <a:r>
              <a:rPr lang="en-US" sz="1000" dirty="0">
                <a:solidFill>
                  <a:srgbClr val="C9CFC8"/>
                </a:solidFill>
                <a:latin typeface="Hubot Sans" pitchFamily="34" charset="0"/>
                <a:ea typeface="Hubot Sans" pitchFamily="34" charset="-122"/>
                <a:cs typeface="Hubot San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57200"/>
            <a:ext cx="7299837"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EEF0EA"/>
                </a:solidFill>
                <a:latin typeface="Big Shoulders ExtraBold" pitchFamily="34" charset="0"/>
                <a:ea typeface="Big Shoulders ExtraBold" pitchFamily="34" charset="-122"/>
                <a:cs typeface="Big Shoulders ExtraBold" pitchFamily="34" charset="-120"/>
              </a:rPr>
              <a:t>MALE CUSTOMERS DRIVE 68% OF OBSERVED REVENUE</a:t>
            </a:r>
            <a:endParaRPr lang="en-US" sz="4400" dirty="0"/>
          </a:p>
        </p:txBody>
      </p:sp>
      <p:sp>
        <p:nvSpPr>
          <p:cNvPr id="3" name="Text 1"/>
          <p:cNvSpPr/>
          <p:nvPr/>
        </p:nvSpPr>
        <p:spPr>
          <a:xfrm>
            <a:off x="457189" y="1977430"/>
            <a:ext cx="7757025"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REVENUE COMPARISON · OBSERVED PURCHASES</a:t>
            </a:r>
            <a:endParaRPr lang="en-US" sz="1100" dirty="0"/>
          </a:p>
        </p:txBody>
      </p:sp>
      <p:pic>
        <p:nvPicPr>
          <p:cNvPr id="4" name="Image 0" descr="preencoded.png">    </p:cNvPr>
          <p:cNvPicPr>
            <a:picLocks noChangeAspect="1"/>
          </p:cNvPicPr>
          <p:nvPr/>
        </p:nvPicPr>
        <p:blipFill>
          <a:blip r:embed="rId1"/>
          <a:stretch>
            <a:fillRect/>
          </a:stretch>
        </p:blipFill>
        <p:spPr>
          <a:xfrm>
            <a:off x="457189" y="2292350"/>
            <a:ext cx="7299837" cy="3649960"/>
          </a:xfrm>
          <a:prstGeom prst="rect">
            <a:avLst/>
          </a:prstGeom>
        </p:spPr>
      </p:pic>
      <p:sp>
        <p:nvSpPr>
          <p:cNvPr id="5" name="Text 2"/>
          <p:cNvSpPr/>
          <p:nvPr/>
        </p:nvSpPr>
        <p:spPr>
          <a:xfrm>
            <a:off x="9128492" y="2380357"/>
            <a:ext cx="3063203"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GAP</a:t>
            </a:r>
            <a:endParaRPr lang="en-US" sz="1100" dirty="0"/>
          </a:p>
        </p:txBody>
      </p:sp>
      <p:sp>
        <p:nvSpPr>
          <p:cNvPr id="6" name="Text 3"/>
          <p:cNvSpPr/>
          <p:nvPr/>
        </p:nvSpPr>
        <p:spPr>
          <a:xfrm>
            <a:off x="9128492" y="2815927"/>
            <a:ext cx="2606014" cy="381000"/>
          </a:xfrm>
          <a:prstGeom prst="rect">
            <a:avLst/>
          </a:prstGeom>
          <a:noFill/>
          <a:ln/>
        </p:spPr>
        <p:txBody>
          <a:bodyPr wrap="none" lIns="0" tIns="0" rIns="0" bIns="0" rtlCol="0" anchor="t"/>
          <a:lstStyle/>
          <a:p>
            <a:pPr algn="l" indent="0" marL="0">
              <a:lnSpc>
                <a:spcPct val="83000"/>
              </a:lnSpc>
              <a:buNone/>
            </a:pPr>
            <a:r>
              <a:rPr lang="en-US" sz="3000" spc="-60" kern="0" dirty="0">
                <a:solidFill>
                  <a:srgbClr val="EEF0EA"/>
                </a:solidFill>
                <a:latin typeface="Martian Mono Medium" pitchFamily="34" charset="0"/>
                <a:ea typeface="Martian Mono Medium" pitchFamily="34" charset="-122"/>
                <a:cs typeface="Martian Mono Medium" pitchFamily="34" charset="-120"/>
              </a:rPr>
              <a:t>$82,699</a:t>
            </a:r>
            <a:endParaRPr lang="en-US" sz="3000" dirty="0"/>
          </a:p>
        </p:txBody>
      </p:sp>
      <p:sp>
        <p:nvSpPr>
          <p:cNvPr id="7" name="Text 4"/>
          <p:cNvSpPr/>
          <p:nvPr/>
        </p:nvSpPr>
        <p:spPr>
          <a:xfrm>
            <a:off x="9128492" y="3346152"/>
            <a:ext cx="2606014"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C9CFC8"/>
                </a:solidFill>
                <a:latin typeface="Hubot Sans" pitchFamily="34" charset="0"/>
                <a:ea typeface="Hubot Sans" pitchFamily="34" charset="-122"/>
                <a:cs typeface="Hubot Sans" pitchFamily="34" charset="-120"/>
              </a:rPr>
              <a:t>The dataset shows the gap; it does not explain its cause.</a:t>
            </a:r>
            <a:endParaRPr lang="en-US" sz="1500" dirty="0"/>
          </a:p>
        </p:txBody>
      </p:sp>
      <p:sp>
        <p:nvSpPr>
          <p:cNvPr id="8" name="Text 5"/>
          <p:cNvSpPr/>
          <p:nvPr/>
        </p:nvSpPr>
        <p:spPr>
          <a:xfrm>
            <a:off x="9128492" y="4012902"/>
            <a:ext cx="2606014" cy="464741"/>
          </a:xfrm>
          <a:prstGeom prst="rect">
            <a:avLst/>
          </a:prstGeom>
          <a:noFill/>
          <a:ln/>
        </p:spPr>
        <p:txBody>
          <a:bodyPr wrap="square" lIns="0" tIns="101598" rIns="0" bIns="0" rtlCol="0" anchor="t">
            <a:normAutofit/>
          </a:bodyPr>
          <a:lstStyle/>
          <a:p>
            <a:pPr algn="l" indent="0" marL="0">
              <a:lnSpc>
                <a:spcPct val="108000"/>
              </a:lnSpc>
              <a:buNone/>
            </a:pPr>
            <a:r>
              <a:rPr lang="en-US" sz="1100" spc="88" kern="0" dirty="0">
                <a:solidFill>
                  <a:srgbClr val="95A199"/>
                </a:solidFill>
                <a:latin typeface="Martian Mono" pitchFamily="34" charset="0"/>
                <a:ea typeface="Martian Mono" pitchFamily="34" charset="-122"/>
                <a:cs typeface="Martian Mono" pitchFamily="34" charset="-120"/>
              </a:rPr>
              <a:t>TOTAL OBSERVED REVENUE · $233,081</a:t>
            </a:r>
            <a:endParaRPr lang="en-US" sz="1100" dirty="0"/>
          </a:p>
        </p:txBody>
      </p:sp>
      <p:sp>
        <p:nvSpPr>
          <p:cNvPr id="9" name="Text 6"/>
          <p:cNvSpPr/>
          <p:nvPr/>
        </p:nvSpPr>
        <p:spPr>
          <a:xfrm>
            <a:off x="11564549" y="6540500"/>
            <a:ext cx="627146" cy="177800"/>
          </a:xfrm>
          <a:prstGeom prst="rect">
            <a:avLst/>
          </a:prstGeom>
          <a:noFill/>
          <a:ln/>
        </p:spPr>
        <p:txBody>
          <a:bodyPr wrap="none" lIns="0" tIns="0" rIns="0" bIns="0" rtlCol="0" anchor="ctr"/>
          <a:lstStyle/>
          <a:p>
            <a:pPr algn="l" indent="0" marL="0">
              <a:lnSpc>
                <a:spcPct val="117000"/>
              </a:lnSpc>
              <a:buNone/>
            </a:pPr>
            <a:r>
              <a:rPr lang="en-US" sz="1000" dirty="0">
                <a:solidFill>
                  <a:srgbClr val="C9CFC8"/>
                </a:solidFill>
                <a:latin typeface="Hubot Sans" pitchFamily="34" charset="0"/>
                <a:ea typeface="Hubot Sans" pitchFamily="34" charset="-122"/>
                <a:cs typeface="Hubot San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57200"/>
            <a:ext cx="6614054"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EEF0EA"/>
                </a:solidFill>
                <a:latin typeface="Big Shoulders ExtraBold" pitchFamily="34" charset="0"/>
                <a:ea typeface="Big Shoulders ExtraBold" pitchFamily="34" charset="-122"/>
                <a:cs typeface="Big Shoulders ExtraBold" pitchFamily="34" charset="-120"/>
              </a:rPr>
              <a:t>CLOTHING IS THE COMMERCIAL CENTER OF GRAVITY</a:t>
            </a:r>
            <a:endParaRPr lang="en-US" sz="4400" dirty="0"/>
          </a:p>
        </p:txBody>
      </p:sp>
      <p:sp>
        <p:nvSpPr>
          <p:cNvPr id="3" name="Text 1"/>
          <p:cNvSpPr/>
          <p:nvPr/>
        </p:nvSpPr>
        <p:spPr>
          <a:xfrm>
            <a:off x="457189" y="1668066"/>
            <a:ext cx="7071243"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ESTIMATED CATEGORY REVENUE AND SALES</a:t>
            </a:r>
            <a:endParaRPr lang="en-US" sz="1100" dirty="0"/>
          </a:p>
        </p:txBody>
      </p:sp>
      <p:pic>
        <p:nvPicPr>
          <p:cNvPr id="4" name="Image 0" descr="preencoded.png">    </p:cNvPr>
          <p:cNvPicPr>
            <a:picLocks noChangeAspect="1"/>
          </p:cNvPicPr>
          <p:nvPr/>
        </p:nvPicPr>
        <p:blipFill>
          <a:blip r:embed="rId1"/>
          <a:stretch>
            <a:fillRect/>
          </a:stretch>
        </p:blipFill>
        <p:spPr>
          <a:xfrm>
            <a:off x="457189" y="1982986"/>
            <a:ext cx="6349841" cy="3303588"/>
          </a:xfrm>
          <a:prstGeom prst="rect">
            <a:avLst/>
          </a:prstGeom>
        </p:spPr>
      </p:pic>
      <p:sp>
        <p:nvSpPr>
          <p:cNvPr id="5" name="Text 2"/>
          <p:cNvSpPr/>
          <p:nvPr/>
        </p:nvSpPr>
        <p:spPr>
          <a:xfrm>
            <a:off x="457189" y="5346898"/>
            <a:ext cx="6614054" cy="283170"/>
          </a:xfrm>
          <a:prstGeom prst="rect">
            <a:avLst/>
          </a:prstGeom>
          <a:noFill/>
          <a:ln/>
        </p:spPr>
        <p:txBody>
          <a:bodyPr wrap="square" lIns="0" tIns="101598" rIns="0" bIns="0" rtlCol="0" anchor="t">
            <a:normAutofit/>
          </a:bodyPr>
          <a:lstStyle/>
          <a:p>
            <a:pPr algn="l" indent="0" marL="0">
              <a:lnSpc>
                <a:spcPct val="108000"/>
              </a:lnSpc>
              <a:buNone/>
            </a:pPr>
            <a:r>
              <a:rPr lang="en-US" sz="1100" spc="88" kern="0" dirty="0">
                <a:solidFill>
                  <a:srgbClr val="95A199"/>
                </a:solidFill>
                <a:latin typeface="Martian Mono" pitchFamily="34" charset="0"/>
                <a:ea typeface="Martian Mono" pitchFamily="34" charset="-122"/>
                <a:cs typeface="Martian Mono" pitchFamily="34" charset="-120"/>
              </a:rPr>
              <a:t>DASHBOARD ESTIMATES · CLOTHING ≈ $100K · ACCESSORIES ≈ $75K</a:t>
            </a:r>
            <a:endParaRPr lang="en-US" sz="1100" dirty="0"/>
          </a:p>
        </p:txBody>
      </p:sp>
      <p:sp>
        <p:nvSpPr>
          <p:cNvPr id="6" name="Text 3"/>
          <p:cNvSpPr/>
          <p:nvPr/>
        </p:nvSpPr>
        <p:spPr>
          <a:xfrm>
            <a:off x="8290313" y="457200"/>
            <a:ext cx="3901382"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TOP PRODUCTS BY CATEGORY</a:t>
            </a:r>
            <a:endParaRPr lang="en-US" sz="1100" dirty="0"/>
          </a:p>
        </p:txBody>
      </p:sp>
      <p:sp>
        <p:nvSpPr>
          <p:cNvPr id="7" name="Text 4"/>
          <p:cNvSpPr/>
          <p:nvPr/>
        </p:nvSpPr>
        <p:spPr>
          <a:xfrm>
            <a:off x="8290313" y="772120"/>
            <a:ext cx="3444194" cy="274241"/>
          </a:xfrm>
          <a:prstGeom prst="rect">
            <a:avLst/>
          </a:prstGeom>
          <a:noFill/>
          <a:ln/>
        </p:spPr>
        <p:txBody>
          <a:bodyPr wrap="none" lIns="0" tIns="0" rIns="0" bIns="0" rtlCol="0" anchor="t"/>
          <a:lstStyle/>
          <a:p>
            <a:pPr algn="l" indent="0" marL="0">
              <a:lnSpc>
                <a:spcPct val="113000"/>
              </a:lnSpc>
              <a:buNone/>
            </a:pPr>
            <a:r>
              <a:rPr lang="en-US" sz="1600" dirty="0">
                <a:solidFill>
                  <a:srgbClr val="EEF0EA"/>
                </a:solidFill>
                <a:latin typeface="Hubot Sans" pitchFamily="34" charset="0"/>
                <a:ea typeface="Hubot Sans" pitchFamily="34" charset="-122"/>
                <a:cs typeface="Hubot Sans" pitchFamily="34" charset="-120"/>
              </a:rPr>
              <a:t>Accessories</a:t>
            </a:r>
            <a:endParaRPr lang="en-US" sz="1600" dirty="0"/>
          </a:p>
        </p:txBody>
      </p:sp>
      <p:sp>
        <p:nvSpPr>
          <p:cNvPr id="8" name="Text 5"/>
          <p:cNvSpPr/>
          <p:nvPr/>
        </p:nvSpPr>
        <p:spPr>
          <a:xfrm>
            <a:off x="8290313" y="1154311"/>
            <a:ext cx="3444194" cy="266700"/>
          </a:xfrm>
          <a:prstGeom prst="rect">
            <a:avLst/>
          </a:prstGeom>
          <a:noFill/>
          <a:ln/>
        </p:spPr>
        <p:txBody>
          <a:bodyPr wrap="none" lIns="0" tIns="0" rIns="0" bIns="0" rtlCol="0" anchor="t"/>
          <a:lstStyle/>
          <a:p>
            <a:pPr algn="l" indent="0" marL="0">
              <a:lnSpc>
                <a:spcPct val="117000"/>
              </a:lnSpc>
              <a:buNone/>
            </a:pPr>
            <a:r>
              <a:rPr lang="en-US" sz="1500" dirty="0">
                <a:solidFill>
                  <a:srgbClr val="C9CFC8"/>
                </a:solidFill>
                <a:latin typeface="Hubot Sans" pitchFamily="34" charset="0"/>
                <a:ea typeface="Hubot Sans" pitchFamily="34" charset="-122"/>
                <a:cs typeface="Hubot Sans" pitchFamily="34" charset="-120"/>
              </a:rPr>
              <a:t>Jewelry</a:t>
            </a:r>
            <a:endParaRPr lang="en-US" sz="1500" dirty="0"/>
          </a:p>
        </p:txBody>
      </p:sp>
      <p:sp>
        <p:nvSpPr>
          <p:cNvPr id="9" name="Text 6"/>
          <p:cNvSpPr/>
          <p:nvPr/>
        </p:nvSpPr>
        <p:spPr>
          <a:xfrm>
            <a:off x="8290313" y="2293541"/>
            <a:ext cx="3444194" cy="274241"/>
          </a:xfrm>
          <a:prstGeom prst="rect">
            <a:avLst/>
          </a:prstGeom>
          <a:noFill/>
          <a:ln/>
        </p:spPr>
        <p:txBody>
          <a:bodyPr wrap="none" lIns="0" tIns="0" rIns="0" bIns="0" rtlCol="0" anchor="t"/>
          <a:lstStyle/>
          <a:p>
            <a:pPr algn="l" indent="0" marL="0">
              <a:lnSpc>
                <a:spcPct val="113000"/>
              </a:lnSpc>
              <a:buNone/>
            </a:pPr>
            <a:r>
              <a:rPr lang="en-US" sz="1600" dirty="0">
                <a:solidFill>
                  <a:srgbClr val="EEF0EA"/>
                </a:solidFill>
                <a:latin typeface="Hubot Sans" pitchFamily="34" charset="0"/>
                <a:ea typeface="Hubot Sans" pitchFamily="34" charset="-122"/>
                <a:cs typeface="Hubot Sans" pitchFamily="34" charset="-120"/>
              </a:rPr>
              <a:t>Clothing</a:t>
            </a:r>
            <a:endParaRPr lang="en-US" sz="1600" dirty="0"/>
          </a:p>
        </p:txBody>
      </p:sp>
      <p:sp>
        <p:nvSpPr>
          <p:cNvPr id="10" name="Text 7"/>
          <p:cNvSpPr/>
          <p:nvPr/>
        </p:nvSpPr>
        <p:spPr>
          <a:xfrm>
            <a:off x="8290313" y="2675731"/>
            <a:ext cx="3444194" cy="266700"/>
          </a:xfrm>
          <a:prstGeom prst="rect">
            <a:avLst/>
          </a:prstGeom>
          <a:noFill/>
          <a:ln/>
        </p:spPr>
        <p:txBody>
          <a:bodyPr wrap="none" lIns="0" tIns="0" rIns="0" bIns="0" rtlCol="0" anchor="t"/>
          <a:lstStyle/>
          <a:p>
            <a:pPr algn="l" indent="0" marL="0">
              <a:lnSpc>
                <a:spcPct val="117000"/>
              </a:lnSpc>
              <a:buNone/>
            </a:pPr>
            <a:r>
              <a:rPr lang="en-US" sz="1500" dirty="0">
                <a:solidFill>
                  <a:srgbClr val="C9CFC8"/>
                </a:solidFill>
                <a:latin typeface="Hubot Sans" pitchFamily="34" charset="0"/>
                <a:ea typeface="Hubot Sans" pitchFamily="34" charset="-122"/>
                <a:cs typeface="Hubot Sans" pitchFamily="34" charset="-120"/>
              </a:rPr>
              <a:t>Blouse · Pants</a:t>
            </a:r>
            <a:endParaRPr lang="en-US" sz="1500" dirty="0"/>
          </a:p>
        </p:txBody>
      </p:sp>
      <p:sp>
        <p:nvSpPr>
          <p:cNvPr id="11" name="Text 8"/>
          <p:cNvSpPr/>
          <p:nvPr/>
        </p:nvSpPr>
        <p:spPr>
          <a:xfrm>
            <a:off x="8290313" y="3814961"/>
            <a:ext cx="3444194" cy="274241"/>
          </a:xfrm>
          <a:prstGeom prst="rect">
            <a:avLst/>
          </a:prstGeom>
          <a:noFill/>
          <a:ln/>
        </p:spPr>
        <p:txBody>
          <a:bodyPr wrap="none" lIns="0" tIns="0" rIns="0" bIns="0" rtlCol="0" anchor="t"/>
          <a:lstStyle/>
          <a:p>
            <a:pPr algn="l" indent="0" marL="0">
              <a:lnSpc>
                <a:spcPct val="113000"/>
              </a:lnSpc>
              <a:buNone/>
            </a:pPr>
            <a:r>
              <a:rPr lang="en-US" sz="1600" dirty="0">
                <a:solidFill>
                  <a:srgbClr val="EEF0EA"/>
                </a:solidFill>
                <a:latin typeface="Hubot Sans" pitchFamily="34" charset="0"/>
                <a:ea typeface="Hubot Sans" pitchFamily="34" charset="-122"/>
                <a:cs typeface="Hubot Sans" pitchFamily="34" charset="-120"/>
              </a:rPr>
              <a:t>Footwear</a:t>
            </a:r>
            <a:endParaRPr lang="en-US" sz="1600" dirty="0"/>
          </a:p>
        </p:txBody>
      </p:sp>
      <p:sp>
        <p:nvSpPr>
          <p:cNvPr id="12" name="Text 9"/>
          <p:cNvSpPr/>
          <p:nvPr/>
        </p:nvSpPr>
        <p:spPr>
          <a:xfrm>
            <a:off x="8290313" y="4197152"/>
            <a:ext cx="3444194" cy="266700"/>
          </a:xfrm>
          <a:prstGeom prst="rect">
            <a:avLst/>
          </a:prstGeom>
          <a:noFill/>
          <a:ln/>
        </p:spPr>
        <p:txBody>
          <a:bodyPr wrap="none" lIns="0" tIns="0" rIns="0" bIns="0" rtlCol="0" anchor="t"/>
          <a:lstStyle/>
          <a:p>
            <a:pPr algn="l" indent="0" marL="0">
              <a:lnSpc>
                <a:spcPct val="117000"/>
              </a:lnSpc>
              <a:buNone/>
            </a:pPr>
            <a:r>
              <a:rPr lang="en-US" sz="1500" dirty="0">
                <a:solidFill>
                  <a:srgbClr val="C9CFC8"/>
                </a:solidFill>
                <a:latin typeface="Hubot Sans" pitchFamily="34" charset="0"/>
                <a:ea typeface="Hubot Sans" pitchFamily="34" charset="-122"/>
                <a:cs typeface="Hubot Sans" pitchFamily="34" charset="-120"/>
              </a:rPr>
              <a:t>Sandals</a:t>
            </a:r>
            <a:endParaRPr lang="en-US" sz="1500" dirty="0"/>
          </a:p>
        </p:txBody>
      </p:sp>
      <p:sp>
        <p:nvSpPr>
          <p:cNvPr id="13" name="Text 10"/>
          <p:cNvSpPr/>
          <p:nvPr/>
        </p:nvSpPr>
        <p:spPr>
          <a:xfrm>
            <a:off x="8290313" y="5336480"/>
            <a:ext cx="3444194" cy="274241"/>
          </a:xfrm>
          <a:prstGeom prst="rect">
            <a:avLst/>
          </a:prstGeom>
          <a:noFill/>
          <a:ln/>
        </p:spPr>
        <p:txBody>
          <a:bodyPr wrap="none" lIns="0" tIns="0" rIns="0" bIns="0" rtlCol="0" anchor="t"/>
          <a:lstStyle/>
          <a:p>
            <a:pPr algn="l" indent="0" marL="0">
              <a:lnSpc>
                <a:spcPct val="113000"/>
              </a:lnSpc>
              <a:buNone/>
            </a:pPr>
            <a:r>
              <a:rPr lang="en-US" sz="1600" dirty="0">
                <a:solidFill>
                  <a:srgbClr val="EEF0EA"/>
                </a:solidFill>
                <a:latin typeface="Hubot Sans" pitchFamily="34" charset="0"/>
                <a:ea typeface="Hubot Sans" pitchFamily="34" charset="-122"/>
                <a:cs typeface="Hubot Sans" pitchFamily="34" charset="-120"/>
              </a:rPr>
              <a:t>Outerwear</a:t>
            </a:r>
            <a:endParaRPr lang="en-US" sz="1600" dirty="0"/>
          </a:p>
        </p:txBody>
      </p:sp>
      <p:sp>
        <p:nvSpPr>
          <p:cNvPr id="14" name="Text 11"/>
          <p:cNvSpPr/>
          <p:nvPr/>
        </p:nvSpPr>
        <p:spPr>
          <a:xfrm>
            <a:off x="8290313" y="5718671"/>
            <a:ext cx="3444194" cy="266700"/>
          </a:xfrm>
          <a:prstGeom prst="rect">
            <a:avLst/>
          </a:prstGeom>
          <a:noFill/>
          <a:ln/>
        </p:spPr>
        <p:txBody>
          <a:bodyPr wrap="none" lIns="0" tIns="0" rIns="0" bIns="0" rtlCol="0" anchor="t"/>
          <a:lstStyle/>
          <a:p>
            <a:pPr algn="l" indent="0" marL="0">
              <a:lnSpc>
                <a:spcPct val="117000"/>
              </a:lnSpc>
              <a:buNone/>
            </a:pPr>
            <a:r>
              <a:rPr lang="en-US" sz="1500" dirty="0">
                <a:solidFill>
                  <a:srgbClr val="C9CFC8"/>
                </a:solidFill>
                <a:latin typeface="Hubot Sans" pitchFamily="34" charset="0"/>
                <a:ea typeface="Hubot Sans" pitchFamily="34" charset="-122"/>
                <a:cs typeface="Hubot Sans" pitchFamily="34" charset="-120"/>
              </a:rPr>
              <a:t>Jacket</a:t>
            </a:r>
            <a:endParaRPr lang="en-US" sz="1500" dirty="0"/>
          </a:p>
        </p:txBody>
      </p:sp>
      <p:sp>
        <p:nvSpPr>
          <p:cNvPr id="15" name="Shape 12"/>
          <p:cNvSpPr/>
          <p:nvPr/>
        </p:nvSpPr>
        <p:spPr>
          <a:xfrm>
            <a:off x="8290313" y="2058591"/>
            <a:ext cx="3444194" cy="12700"/>
          </a:xfrm>
          <a:prstGeom prst="rect">
            <a:avLst/>
          </a:prstGeom>
          <a:solidFill>
            <a:srgbClr val="2C3832"/>
          </a:solidFill>
          <a:ln/>
        </p:spPr>
      </p:sp>
      <p:sp>
        <p:nvSpPr>
          <p:cNvPr id="16" name="Shape 13"/>
          <p:cNvSpPr/>
          <p:nvPr/>
        </p:nvSpPr>
        <p:spPr>
          <a:xfrm>
            <a:off x="8290313" y="3580011"/>
            <a:ext cx="3444194" cy="12700"/>
          </a:xfrm>
          <a:prstGeom prst="rect">
            <a:avLst/>
          </a:prstGeom>
          <a:solidFill>
            <a:srgbClr val="2C3832"/>
          </a:solidFill>
          <a:ln/>
        </p:spPr>
      </p:sp>
      <p:sp>
        <p:nvSpPr>
          <p:cNvPr id="17" name="Shape 14"/>
          <p:cNvSpPr/>
          <p:nvPr/>
        </p:nvSpPr>
        <p:spPr>
          <a:xfrm>
            <a:off x="8290313" y="5101530"/>
            <a:ext cx="3444194" cy="12700"/>
          </a:xfrm>
          <a:prstGeom prst="rect">
            <a:avLst/>
          </a:prstGeom>
          <a:solidFill>
            <a:srgbClr val="2C3832"/>
          </a:solidFill>
          <a:ln/>
        </p:spPr>
      </p:sp>
      <p:sp>
        <p:nvSpPr>
          <p:cNvPr id="18" name="Text 15"/>
          <p:cNvSpPr/>
          <p:nvPr/>
        </p:nvSpPr>
        <p:spPr>
          <a:xfrm>
            <a:off x="11571693" y="6540500"/>
            <a:ext cx="620002" cy="177800"/>
          </a:xfrm>
          <a:prstGeom prst="rect">
            <a:avLst/>
          </a:prstGeom>
          <a:noFill/>
          <a:ln/>
        </p:spPr>
        <p:txBody>
          <a:bodyPr wrap="none" lIns="0" tIns="0" rIns="0" bIns="0" rtlCol="0" anchor="ctr"/>
          <a:lstStyle/>
          <a:p>
            <a:pPr algn="l" indent="0" marL="0">
              <a:lnSpc>
                <a:spcPct val="117000"/>
              </a:lnSpc>
              <a:buNone/>
            </a:pPr>
            <a:r>
              <a:rPr lang="en-US" sz="1000" dirty="0">
                <a:solidFill>
                  <a:srgbClr val="C9CFC8"/>
                </a:solidFill>
                <a:latin typeface="Hubot Sans" pitchFamily="34" charset="0"/>
                <a:ea typeface="Hubot Sans" pitchFamily="34" charset="-122"/>
                <a:cs typeface="Hubot Sans"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085032" cy="6592292"/>
          </a:xfrm>
          <a:prstGeom prst="rect">
            <a:avLst/>
          </a:prstGeom>
        </p:spPr>
      </p:pic>
      <p:sp>
        <p:nvSpPr>
          <p:cNvPr id="3" name="Text 0"/>
          <p:cNvSpPr/>
          <p:nvPr/>
        </p:nvSpPr>
        <p:spPr>
          <a:xfrm>
            <a:off x="0" y="6592292"/>
            <a:ext cx="5085032" cy="265708"/>
          </a:xfrm>
          <a:prstGeom prst="rect">
            <a:avLst/>
          </a:prstGeom>
          <a:noFill/>
          <a:ln/>
        </p:spPr>
        <p:txBody>
          <a:bodyPr wrap="square" lIns="0" tIns="101598" rIns="0" bIns="0" rtlCol="0" anchor="t">
            <a:normAutofit/>
          </a:bodyPr>
          <a:lstStyle/>
          <a:p>
            <a:pPr algn="l" indent="0" marL="0">
              <a:lnSpc>
                <a:spcPct val="108000"/>
              </a:lnSpc>
              <a:buNone/>
            </a:pPr>
            <a:r>
              <a:rPr lang="en-US" sz="1000" spc="80" kern="0" dirty="0">
                <a:solidFill>
                  <a:srgbClr val="95A199"/>
                </a:solidFill>
                <a:latin typeface="Martian Mono" pitchFamily="34" charset="0"/>
                <a:ea typeface="Martian Mono" pitchFamily="34" charset="-122"/>
                <a:cs typeface="Martian Mono" pitchFamily="34" charset="-120"/>
              </a:rPr>
              <a:t>EVIDENCE · DISCOUNTED PURCHASE BEHAVIOR</a:t>
            </a:r>
            <a:endParaRPr lang="en-US" sz="1000" dirty="0"/>
          </a:p>
        </p:txBody>
      </p:sp>
      <p:sp>
        <p:nvSpPr>
          <p:cNvPr id="4" name="Text 1"/>
          <p:cNvSpPr/>
          <p:nvPr/>
        </p:nvSpPr>
        <p:spPr>
          <a:xfrm>
            <a:off x="5999310" y="457200"/>
            <a:ext cx="5735196" cy="1440359"/>
          </a:xfrm>
          <a:prstGeom prst="rect">
            <a:avLst/>
          </a:prstGeom>
          <a:noFill/>
          <a:ln/>
        </p:spPr>
        <p:txBody>
          <a:bodyPr wrap="square" lIns="0" tIns="0" rIns="0" bIns="0" rtlCol="0" anchor="t">
            <a:normAutofit/>
          </a:bodyPr>
          <a:lstStyle/>
          <a:p>
            <a:pPr algn="l" indent="0" marL="0">
              <a:lnSpc>
                <a:spcPct val="79000"/>
              </a:lnSpc>
              <a:buNone/>
            </a:pPr>
            <a:r>
              <a:rPr lang="en-US" sz="4000" dirty="0">
                <a:solidFill>
                  <a:srgbClr val="EEF0EA"/>
                </a:solidFill>
                <a:latin typeface="Big Shoulders ExtraBold" pitchFamily="34" charset="0"/>
                <a:ea typeface="Big Shoulders ExtraBold" pitchFamily="34" charset="-122"/>
                <a:cs typeface="Big Shoulders ExtraBold" pitchFamily="34" charset="-120"/>
              </a:rPr>
              <a:t>DISCOUNTS ATTRACT SPEND—BUT MAY ALSO TRAIN DEPENDENCE</a:t>
            </a:r>
            <a:endParaRPr lang="en-US" sz="4000" dirty="0"/>
          </a:p>
        </p:txBody>
      </p:sp>
      <p:sp>
        <p:nvSpPr>
          <p:cNvPr id="5" name="Text 2"/>
          <p:cNvSpPr/>
          <p:nvPr/>
        </p:nvSpPr>
        <p:spPr>
          <a:xfrm>
            <a:off x="5999310" y="2019598"/>
            <a:ext cx="5735196" cy="551259"/>
          </a:xfrm>
          <a:prstGeom prst="rect">
            <a:avLst/>
          </a:prstGeom>
          <a:noFill/>
          <a:ln/>
        </p:spPr>
        <p:txBody>
          <a:bodyPr wrap="square" lIns="0" tIns="0" rIns="0" bIns="0" rtlCol="0" anchor="t">
            <a:normAutofit/>
          </a:bodyPr>
          <a:lstStyle/>
          <a:p>
            <a:pPr algn="l" indent="0" marL="0">
              <a:lnSpc>
                <a:spcPct val="111000"/>
              </a:lnSpc>
              <a:buNone/>
            </a:pPr>
            <a:r>
              <a:rPr lang="en-US" sz="1650" dirty="0">
                <a:solidFill>
                  <a:srgbClr val="C9CFC8"/>
                </a:solidFill>
                <a:latin typeface="Hubot Sans" pitchFamily="34" charset="0"/>
                <a:ea typeface="Hubot Sans" pitchFamily="34" charset="-122"/>
                <a:cs typeface="Hubot Sans" pitchFamily="34" charset="-120"/>
              </a:rPr>
              <a:t>839 customers used discounts while still spending above the average purchase amount.</a:t>
            </a:r>
            <a:endParaRPr lang="en-US" sz="1650" dirty="0"/>
          </a:p>
        </p:txBody>
      </p:sp>
      <p:sp>
        <p:nvSpPr>
          <p:cNvPr id="6" name="Text 3"/>
          <p:cNvSpPr/>
          <p:nvPr/>
        </p:nvSpPr>
        <p:spPr>
          <a:xfrm>
            <a:off x="5999310" y="2679898"/>
            <a:ext cx="5735196" cy="164108"/>
          </a:xfrm>
          <a:prstGeom prst="rect">
            <a:avLst/>
          </a:prstGeom>
          <a:noFill/>
          <a:ln/>
        </p:spPr>
        <p:txBody>
          <a:bodyPr wrap="none" lIns="0" tIns="0" rIns="0" bIns="0" rtlCol="0" anchor="t"/>
          <a:lstStyle/>
          <a:p>
            <a:pPr algn="l" indent="0" marL="0">
              <a:lnSpc>
                <a:spcPct val="108000"/>
              </a:lnSpc>
              <a:buNone/>
            </a:pPr>
            <a:r>
              <a:rPr lang="en-US" sz="1000" spc="60" kern="0" dirty="0">
                <a:solidFill>
                  <a:srgbClr val="95A199"/>
                </a:solidFill>
                <a:latin typeface="Martian Mono" pitchFamily="34" charset="0"/>
                <a:ea typeface="Martian Mono" pitchFamily="34" charset="-122"/>
                <a:cs typeface="Martian Mono" pitchFamily="34" charset="-120"/>
              </a:rPr>
              <a:t>HAT</a:t>
            </a:r>
            <a:endParaRPr lang="en-US" sz="1000" dirty="0"/>
          </a:p>
        </p:txBody>
      </p:sp>
      <p:sp>
        <p:nvSpPr>
          <p:cNvPr id="7" name="Text 4"/>
          <p:cNvSpPr/>
          <p:nvPr/>
        </p:nvSpPr>
        <p:spPr>
          <a:xfrm>
            <a:off x="5999310" y="2953048"/>
            <a:ext cx="5735196" cy="294680"/>
          </a:xfrm>
          <a:prstGeom prst="rect">
            <a:avLst/>
          </a:prstGeom>
          <a:noFill/>
          <a:ln/>
        </p:spPr>
        <p:txBody>
          <a:bodyPr wrap="none" lIns="0" tIns="0" rIns="0" bIns="0" rtlCol="0" anchor="t"/>
          <a:lstStyle/>
          <a:p>
            <a:pPr algn="l" indent="0" marL="0">
              <a:lnSpc>
                <a:spcPct val="112000"/>
              </a:lnSpc>
              <a:buNone/>
            </a:pPr>
            <a:r>
              <a:rPr lang="en-US" sz="1700" dirty="0">
                <a:solidFill>
                  <a:srgbClr val="EEF0EA"/>
                </a:solidFill>
                <a:latin typeface="Hubot Sans" pitchFamily="34" charset="0"/>
                <a:ea typeface="Hubot Sans" pitchFamily="34" charset="-122"/>
                <a:cs typeface="Hubot Sans" pitchFamily="34" charset="-120"/>
              </a:rPr>
              <a:t>50.00%</a:t>
            </a:r>
            <a:endParaRPr lang="en-US" sz="1700" dirty="0"/>
          </a:p>
        </p:txBody>
      </p:sp>
      <p:sp>
        <p:nvSpPr>
          <p:cNvPr id="8" name="Text 5"/>
          <p:cNvSpPr/>
          <p:nvPr/>
        </p:nvSpPr>
        <p:spPr>
          <a:xfrm>
            <a:off x="5999310" y="3704927"/>
            <a:ext cx="5735196" cy="164108"/>
          </a:xfrm>
          <a:prstGeom prst="rect">
            <a:avLst/>
          </a:prstGeom>
          <a:noFill/>
          <a:ln/>
        </p:spPr>
        <p:txBody>
          <a:bodyPr wrap="none" lIns="0" tIns="0" rIns="0" bIns="0" rtlCol="0" anchor="t"/>
          <a:lstStyle/>
          <a:p>
            <a:pPr algn="l" indent="0" marL="0">
              <a:lnSpc>
                <a:spcPct val="108000"/>
              </a:lnSpc>
              <a:buNone/>
            </a:pPr>
            <a:r>
              <a:rPr lang="en-US" sz="1000" spc="60" kern="0" dirty="0">
                <a:solidFill>
                  <a:srgbClr val="95A199"/>
                </a:solidFill>
                <a:latin typeface="Martian Mono" pitchFamily="34" charset="0"/>
                <a:ea typeface="Martian Mono" pitchFamily="34" charset="-122"/>
                <a:cs typeface="Martian Mono" pitchFamily="34" charset="-120"/>
              </a:rPr>
              <a:t>SNEAKERS</a:t>
            </a:r>
            <a:endParaRPr lang="en-US" sz="1000" dirty="0"/>
          </a:p>
        </p:txBody>
      </p:sp>
      <p:sp>
        <p:nvSpPr>
          <p:cNvPr id="9" name="Text 6"/>
          <p:cNvSpPr/>
          <p:nvPr/>
        </p:nvSpPr>
        <p:spPr>
          <a:xfrm>
            <a:off x="5999310" y="3978077"/>
            <a:ext cx="5735196" cy="294680"/>
          </a:xfrm>
          <a:prstGeom prst="rect">
            <a:avLst/>
          </a:prstGeom>
          <a:noFill/>
          <a:ln/>
        </p:spPr>
        <p:txBody>
          <a:bodyPr wrap="none" lIns="0" tIns="0" rIns="0" bIns="0" rtlCol="0" anchor="t"/>
          <a:lstStyle/>
          <a:p>
            <a:pPr algn="l" indent="0" marL="0">
              <a:lnSpc>
                <a:spcPct val="112000"/>
              </a:lnSpc>
              <a:buNone/>
            </a:pPr>
            <a:r>
              <a:rPr lang="en-US" sz="1700" dirty="0">
                <a:solidFill>
                  <a:srgbClr val="EEF0EA"/>
                </a:solidFill>
                <a:latin typeface="Hubot Sans" pitchFamily="34" charset="0"/>
                <a:ea typeface="Hubot Sans" pitchFamily="34" charset="-122"/>
                <a:cs typeface="Hubot Sans" pitchFamily="34" charset="-120"/>
              </a:rPr>
              <a:t>49.66%</a:t>
            </a:r>
            <a:endParaRPr lang="en-US" sz="1700" dirty="0"/>
          </a:p>
        </p:txBody>
      </p:sp>
      <p:sp>
        <p:nvSpPr>
          <p:cNvPr id="10" name="Text 7"/>
          <p:cNvSpPr/>
          <p:nvPr/>
        </p:nvSpPr>
        <p:spPr>
          <a:xfrm>
            <a:off x="5999310" y="4729956"/>
            <a:ext cx="5735196" cy="164108"/>
          </a:xfrm>
          <a:prstGeom prst="rect">
            <a:avLst/>
          </a:prstGeom>
          <a:noFill/>
          <a:ln/>
        </p:spPr>
        <p:txBody>
          <a:bodyPr wrap="none" lIns="0" tIns="0" rIns="0" bIns="0" rtlCol="0" anchor="t"/>
          <a:lstStyle/>
          <a:p>
            <a:pPr algn="l" indent="0" marL="0">
              <a:lnSpc>
                <a:spcPct val="108000"/>
              </a:lnSpc>
              <a:buNone/>
            </a:pPr>
            <a:r>
              <a:rPr lang="en-US" sz="1000" spc="60" kern="0" dirty="0">
                <a:solidFill>
                  <a:srgbClr val="95A199"/>
                </a:solidFill>
                <a:latin typeface="Martian Mono" pitchFamily="34" charset="0"/>
                <a:ea typeface="Martian Mono" pitchFamily="34" charset="-122"/>
                <a:cs typeface="Martian Mono" pitchFamily="34" charset="-120"/>
              </a:rPr>
              <a:t>COAT</a:t>
            </a:r>
            <a:endParaRPr lang="en-US" sz="1000" dirty="0"/>
          </a:p>
        </p:txBody>
      </p:sp>
      <p:sp>
        <p:nvSpPr>
          <p:cNvPr id="11" name="Text 8"/>
          <p:cNvSpPr/>
          <p:nvPr/>
        </p:nvSpPr>
        <p:spPr>
          <a:xfrm>
            <a:off x="5999310" y="5003105"/>
            <a:ext cx="5735196" cy="294680"/>
          </a:xfrm>
          <a:prstGeom prst="rect">
            <a:avLst/>
          </a:prstGeom>
          <a:noFill/>
          <a:ln/>
        </p:spPr>
        <p:txBody>
          <a:bodyPr wrap="none" lIns="0" tIns="0" rIns="0" bIns="0" rtlCol="0" anchor="t"/>
          <a:lstStyle/>
          <a:p>
            <a:pPr algn="l" indent="0" marL="0">
              <a:lnSpc>
                <a:spcPct val="112000"/>
              </a:lnSpc>
              <a:buNone/>
            </a:pPr>
            <a:r>
              <a:rPr lang="en-US" sz="1700" dirty="0">
                <a:solidFill>
                  <a:srgbClr val="EEF0EA"/>
                </a:solidFill>
                <a:latin typeface="Hubot Sans" pitchFamily="34" charset="0"/>
                <a:ea typeface="Hubot Sans" pitchFamily="34" charset="-122"/>
                <a:cs typeface="Hubot Sans" pitchFamily="34" charset="-120"/>
              </a:rPr>
              <a:t>49.07%</a:t>
            </a:r>
            <a:endParaRPr lang="en-US" sz="1700" dirty="0"/>
          </a:p>
        </p:txBody>
      </p:sp>
      <p:sp>
        <p:nvSpPr>
          <p:cNvPr id="12" name="Text 9"/>
          <p:cNvSpPr/>
          <p:nvPr/>
        </p:nvSpPr>
        <p:spPr>
          <a:xfrm>
            <a:off x="5999310" y="5754985"/>
            <a:ext cx="5735196" cy="164108"/>
          </a:xfrm>
          <a:prstGeom prst="rect">
            <a:avLst/>
          </a:prstGeom>
          <a:noFill/>
          <a:ln/>
        </p:spPr>
        <p:txBody>
          <a:bodyPr wrap="none" lIns="0" tIns="0" rIns="0" bIns="0" rtlCol="0" anchor="t"/>
          <a:lstStyle/>
          <a:p>
            <a:pPr algn="l" indent="0" marL="0">
              <a:lnSpc>
                <a:spcPct val="108000"/>
              </a:lnSpc>
              <a:buNone/>
            </a:pPr>
            <a:r>
              <a:rPr lang="en-US" sz="1000" spc="60" kern="0" dirty="0">
                <a:solidFill>
                  <a:srgbClr val="95A199"/>
                </a:solidFill>
                <a:latin typeface="Martian Mono" pitchFamily="34" charset="0"/>
                <a:ea typeface="Martian Mono" pitchFamily="34" charset="-122"/>
                <a:cs typeface="Martian Mono" pitchFamily="34" charset="-120"/>
              </a:rPr>
              <a:t>SWEATER · PANTS</a:t>
            </a:r>
            <a:endParaRPr lang="en-US" sz="1000" dirty="0"/>
          </a:p>
        </p:txBody>
      </p:sp>
      <p:sp>
        <p:nvSpPr>
          <p:cNvPr id="13" name="Text 10"/>
          <p:cNvSpPr/>
          <p:nvPr/>
        </p:nvSpPr>
        <p:spPr>
          <a:xfrm>
            <a:off x="5999310" y="6028134"/>
            <a:ext cx="5735196" cy="294680"/>
          </a:xfrm>
          <a:prstGeom prst="rect">
            <a:avLst/>
          </a:prstGeom>
          <a:noFill/>
          <a:ln/>
        </p:spPr>
        <p:txBody>
          <a:bodyPr wrap="none" lIns="0" tIns="0" rIns="0" bIns="0" rtlCol="0" anchor="t"/>
          <a:lstStyle/>
          <a:p>
            <a:pPr algn="l" indent="0" marL="0">
              <a:lnSpc>
                <a:spcPct val="112000"/>
              </a:lnSpc>
              <a:buNone/>
            </a:pPr>
            <a:r>
              <a:rPr lang="en-US" sz="1700" dirty="0">
                <a:solidFill>
                  <a:srgbClr val="EEF0EA"/>
                </a:solidFill>
                <a:latin typeface="Hubot Sans" pitchFamily="34" charset="0"/>
                <a:ea typeface="Hubot Sans" pitchFamily="34" charset="-122"/>
                <a:cs typeface="Hubot Sans" pitchFamily="34" charset="-120"/>
              </a:rPr>
              <a:t>48.17% · 47.37%</a:t>
            </a:r>
            <a:endParaRPr lang="en-US" sz="1700" dirty="0"/>
          </a:p>
        </p:txBody>
      </p:sp>
      <p:sp>
        <p:nvSpPr>
          <p:cNvPr id="14" name="Text 11"/>
          <p:cNvSpPr/>
          <p:nvPr/>
        </p:nvSpPr>
        <p:spPr>
          <a:xfrm>
            <a:off x="5999310" y="6431855"/>
            <a:ext cx="5735196" cy="429816"/>
          </a:xfrm>
          <a:prstGeom prst="rect">
            <a:avLst/>
          </a:prstGeom>
          <a:noFill/>
          <a:ln/>
        </p:spPr>
        <p:txBody>
          <a:bodyPr wrap="square" lIns="0" tIns="101598" rIns="0" bIns="0" rtlCol="0" anchor="t">
            <a:normAutofit/>
          </a:bodyPr>
          <a:lstStyle/>
          <a:p>
            <a:pPr algn="l" indent="0" marL="0">
              <a:lnSpc>
                <a:spcPct val="108000"/>
              </a:lnSpc>
              <a:buNone/>
            </a:pPr>
            <a:r>
              <a:rPr lang="en-US" sz="1000" spc="80" kern="0" dirty="0">
                <a:solidFill>
                  <a:srgbClr val="95A199"/>
                </a:solidFill>
                <a:latin typeface="Martian Mono" pitchFamily="34" charset="0"/>
                <a:ea typeface="Martian Mono" pitchFamily="34" charset="-122"/>
                <a:cs typeface="Martian Mono" pitchFamily="34" charset="-120"/>
              </a:rPr>
              <a:t>INTERPRETATION · PROTECT HIGH-DEMAND PRODUCTS FROM PERMANENT PROMOTION</a:t>
            </a:r>
            <a:endParaRPr lang="en-US" sz="1000" dirty="0"/>
          </a:p>
        </p:txBody>
      </p:sp>
      <p:sp>
        <p:nvSpPr>
          <p:cNvPr id="15" name="Shape 12"/>
          <p:cNvSpPr/>
          <p:nvPr/>
        </p:nvSpPr>
        <p:spPr>
          <a:xfrm>
            <a:off x="5999310" y="3469977"/>
            <a:ext cx="5735196" cy="12700"/>
          </a:xfrm>
          <a:prstGeom prst="rect">
            <a:avLst/>
          </a:prstGeom>
          <a:solidFill>
            <a:srgbClr val="2C3832"/>
          </a:solidFill>
          <a:ln/>
        </p:spPr>
      </p:sp>
      <p:sp>
        <p:nvSpPr>
          <p:cNvPr id="16" name="Shape 13"/>
          <p:cNvSpPr/>
          <p:nvPr/>
        </p:nvSpPr>
        <p:spPr>
          <a:xfrm>
            <a:off x="5999310" y="4495006"/>
            <a:ext cx="5735196" cy="12700"/>
          </a:xfrm>
          <a:prstGeom prst="rect">
            <a:avLst/>
          </a:prstGeom>
          <a:solidFill>
            <a:srgbClr val="2C3832"/>
          </a:solidFill>
          <a:ln/>
        </p:spPr>
      </p:sp>
      <p:sp>
        <p:nvSpPr>
          <p:cNvPr id="17" name="Shape 14"/>
          <p:cNvSpPr/>
          <p:nvPr/>
        </p:nvSpPr>
        <p:spPr>
          <a:xfrm>
            <a:off x="5999310" y="5520035"/>
            <a:ext cx="5735196" cy="12700"/>
          </a:xfrm>
          <a:prstGeom prst="rect">
            <a:avLst/>
          </a:prstGeom>
          <a:solidFill>
            <a:srgbClr val="2C3832"/>
          </a:solidFill>
          <a:ln/>
        </p:spPr>
      </p:sp>
      <p:sp>
        <p:nvSpPr>
          <p:cNvPr id="18" name="Text 15"/>
          <p:cNvSpPr/>
          <p:nvPr/>
        </p:nvSpPr>
        <p:spPr>
          <a:xfrm>
            <a:off x="11567625" y="6540500"/>
            <a:ext cx="624070" cy="177800"/>
          </a:xfrm>
          <a:prstGeom prst="rect">
            <a:avLst/>
          </a:prstGeom>
          <a:noFill/>
          <a:ln/>
        </p:spPr>
        <p:txBody>
          <a:bodyPr wrap="none" lIns="0" tIns="0" rIns="0" bIns="0" rtlCol="0" anchor="ctr"/>
          <a:lstStyle/>
          <a:p>
            <a:pPr algn="l" indent="0" marL="0">
              <a:lnSpc>
                <a:spcPct val="117000"/>
              </a:lnSpc>
              <a:buNone/>
            </a:pPr>
            <a:r>
              <a:rPr lang="en-US" sz="1000" dirty="0">
                <a:solidFill>
                  <a:srgbClr val="C9CFC8"/>
                </a:solidFill>
                <a:latin typeface="Hubot Sans" pitchFamily="34" charset="0"/>
                <a:ea typeface="Hubot Sans" pitchFamily="34" charset="-122"/>
                <a:cs typeface="Hubot San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189" y="457200"/>
            <a:ext cx="11277318"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EEF0EA"/>
                </a:solidFill>
                <a:latin typeface="Big Shoulders ExtraBold" pitchFamily="34" charset="0"/>
                <a:ea typeface="Big Shoulders ExtraBold" pitchFamily="34" charset="-122"/>
                <a:cs typeface="Big Shoulders ExtraBold" pitchFamily="34" charset="-120"/>
              </a:rPr>
              <a:t>THE LOYALTY BASE IS LARGE, BUT SUBSCRIPTION ADOPTION IS LAGGING IT</a:t>
            </a:r>
            <a:endParaRPr lang="en-US" sz="4400" dirty="0"/>
          </a:p>
        </p:txBody>
      </p:sp>
      <p:sp>
        <p:nvSpPr>
          <p:cNvPr id="3" name="Text 1"/>
          <p:cNvSpPr/>
          <p:nvPr/>
        </p:nvSpPr>
        <p:spPr>
          <a:xfrm>
            <a:off x="457189" y="1668066"/>
            <a:ext cx="5486263"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CUSTOMER SEGMENT LADDER</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189" y="1935361"/>
          <a:ext cx="9143771" cy="914400"/>
        </p:xfrm>
        <a:graphic>
          <a:graphicData uri="http://schemas.openxmlformats.org/drawingml/2006/table">
            <a:tbl>
              <a:tblPr/>
              <a:tblGrid>
                <a:gridCol w="3182032"/>
                <a:gridCol w="2304230"/>
              </a:tblGrid>
              <a:tr h="425439">
                <a:tc>
                  <a:txBody>
                    <a:bodyPr/>
                    <a:lstStyle/>
                    <a:p>
                      <a:pPr algn="l" indent="0" marL="0">
                        <a:buNone/>
                      </a:pPr>
                      <a:r>
                        <a:rPr lang="en-US" sz="1500" dirty="0">
                          <a:solidFill>
                            <a:srgbClr val="EEF0EA"/>
                          </a:solidFill>
                          <a:latin typeface="Hubot Sans" pitchFamily="34" charset="0"/>
                          <a:ea typeface="Hubot Sans" pitchFamily="34" charset="-122"/>
                          <a:cs typeface="Hubot Sans" pitchFamily="34" charset="-120"/>
                        </a:rPr>
                        <a:t>Segment</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0E1512"/>
                      </a:solidFill>
                      <a:prstDash val="solid"/>
                      <a:round/>
                      <a:headEnd type="none" w="med" len="med"/>
                      <a:tailEnd type="none" w="med" len="med"/>
                    </a:lnT>
                    <a:lnB w="12700" cap="flat" cmpd="sng" algn="ctr">
                      <a:solidFill>
                        <a:srgbClr val="2C3832"/>
                      </a:solidFill>
                      <a:prstDash val="solid"/>
                      <a:round/>
                      <a:headEnd type="none" w="med" len="med"/>
                      <a:tailEnd type="none" w="med" len="med"/>
                    </a:lnB>
                  </a:tcPr>
                </a:tc>
                <a:tc>
                  <a:txBody>
                    <a:bodyPr/>
                    <a:lstStyle/>
                    <a:p>
                      <a:pPr algn="l" indent="0" marL="0">
                        <a:buNone/>
                      </a:pPr>
                      <a:r>
                        <a:rPr lang="en-US" sz="1500" dirty="0">
                          <a:solidFill>
                            <a:srgbClr val="EEF0EA"/>
                          </a:solidFill>
                          <a:latin typeface="Hubot Sans" pitchFamily="34" charset="0"/>
                          <a:ea typeface="Hubot Sans" pitchFamily="34" charset="-122"/>
                          <a:cs typeface="Hubot Sans" pitchFamily="34" charset="-120"/>
                        </a:rPr>
                        <a:t>Customers</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0E1512"/>
                      </a:solidFill>
                      <a:prstDash val="solid"/>
                      <a:round/>
                      <a:headEnd type="none" w="med" len="med"/>
                      <a:tailEnd type="none" w="med" len="med"/>
                    </a:lnT>
                    <a:lnB w="12700" cap="flat" cmpd="sng" algn="ctr">
                      <a:solidFill>
                        <a:srgbClr val="2C3832"/>
                      </a:solidFill>
                      <a:prstDash val="solid"/>
                      <a:round/>
                      <a:headEnd type="none" w="med" len="med"/>
                      <a:tailEnd type="none" w="med" len="med"/>
                    </a:lnB>
                  </a:tcPr>
                </a:tc>
              </a:tr>
              <a:tr h="425439">
                <a:tc>
                  <a:txBody>
                    <a:bodyPr/>
                    <a:lstStyle/>
                    <a:p>
                      <a:pPr algn="l" indent="0" marL="0">
                        <a:buNone/>
                      </a:pPr>
                      <a:r>
                        <a:rPr lang="en-US" sz="1500" dirty="0">
                          <a:solidFill>
                            <a:srgbClr val="C9CFC8"/>
                          </a:solidFill>
                          <a:latin typeface="Hubot Sans" pitchFamily="34" charset="0"/>
                          <a:ea typeface="Hubot Sans" pitchFamily="34" charset="-122"/>
                          <a:cs typeface="Hubot Sans" pitchFamily="34" charset="-120"/>
                        </a:rPr>
                        <a:t>Loyal</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2C3832"/>
                      </a:solidFill>
                      <a:prstDash val="solid"/>
                      <a:round/>
                      <a:headEnd type="none" w="med" len="med"/>
                      <a:tailEnd type="none" w="med" len="med"/>
                    </a:lnT>
                    <a:lnB w="12700" cap="flat" cmpd="sng" algn="ctr">
                      <a:solidFill>
                        <a:srgbClr val="2C3832"/>
                      </a:solidFill>
                      <a:prstDash val="solid"/>
                      <a:round/>
                      <a:headEnd type="none" w="med" len="med"/>
                      <a:tailEnd type="none" w="med" len="med"/>
                    </a:lnB>
                  </a:tcPr>
                </a:tc>
                <a:tc>
                  <a:txBody>
                    <a:bodyPr/>
                    <a:lstStyle/>
                    <a:p>
                      <a:pPr algn="l" indent="0" marL="0">
                        <a:buNone/>
                      </a:pPr>
                      <a:r>
                        <a:rPr lang="en-US" sz="1500" dirty="0">
                          <a:solidFill>
                            <a:srgbClr val="C9CFC8"/>
                          </a:solidFill>
                          <a:latin typeface="Hubot Sans" pitchFamily="34" charset="0"/>
                          <a:ea typeface="Hubot Sans" pitchFamily="34" charset="-122"/>
                          <a:cs typeface="Hubot Sans" pitchFamily="34" charset="-120"/>
                        </a:rPr>
                        <a:t>3,116</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2C3832"/>
                      </a:solidFill>
                      <a:prstDash val="solid"/>
                      <a:round/>
                      <a:headEnd type="none" w="med" len="med"/>
                      <a:tailEnd type="none" w="med" len="med"/>
                    </a:lnT>
                    <a:lnB w="12700" cap="flat" cmpd="sng" algn="ctr">
                      <a:solidFill>
                        <a:srgbClr val="2C3832"/>
                      </a:solidFill>
                      <a:prstDash val="solid"/>
                      <a:round/>
                      <a:headEnd type="none" w="med" len="med"/>
                      <a:tailEnd type="none" w="med" len="med"/>
                    </a:lnB>
                  </a:tcPr>
                </a:tc>
              </a:tr>
              <a:tr h="425439">
                <a:tc>
                  <a:txBody>
                    <a:bodyPr/>
                    <a:lstStyle/>
                    <a:p>
                      <a:pPr algn="l" indent="0" marL="0">
                        <a:buNone/>
                      </a:pPr>
                      <a:r>
                        <a:rPr lang="en-US" sz="1500" dirty="0">
                          <a:solidFill>
                            <a:srgbClr val="C9CFC8"/>
                          </a:solidFill>
                          <a:latin typeface="Hubot Sans" pitchFamily="34" charset="0"/>
                          <a:ea typeface="Hubot Sans" pitchFamily="34" charset="-122"/>
                          <a:cs typeface="Hubot Sans" pitchFamily="34" charset="-120"/>
                        </a:rPr>
                        <a:t>Returning</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2C3832"/>
                      </a:solidFill>
                      <a:prstDash val="solid"/>
                      <a:round/>
                      <a:headEnd type="none" w="med" len="med"/>
                      <a:tailEnd type="none" w="med" len="med"/>
                    </a:lnT>
                    <a:lnB w="12700" cap="flat" cmpd="sng" algn="ctr">
                      <a:solidFill>
                        <a:srgbClr val="2C3832"/>
                      </a:solidFill>
                      <a:prstDash val="solid"/>
                      <a:round/>
                      <a:headEnd type="none" w="med" len="med"/>
                      <a:tailEnd type="none" w="med" len="med"/>
                    </a:lnB>
                  </a:tcPr>
                </a:tc>
                <a:tc>
                  <a:txBody>
                    <a:bodyPr/>
                    <a:lstStyle/>
                    <a:p>
                      <a:pPr algn="l" indent="0" marL="0">
                        <a:buNone/>
                      </a:pPr>
                      <a:r>
                        <a:rPr lang="en-US" sz="1500" dirty="0">
                          <a:solidFill>
                            <a:srgbClr val="C9CFC8"/>
                          </a:solidFill>
                          <a:latin typeface="Hubot Sans" pitchFamily="34" charset="0"/>
                          <a:ea typeface="Hubot Sans" pitchFamily="34" charset="-122"/>
                          <a:cs typeface="Hubot Sans" pitchFamily="34" charset="-120"/>
                        </a:rPr>
                        <a:t>701</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2C3832"/>
                      </a:solidFill>
                      <a:prstDash val="solid"/>
                      <a:round/>
                      <a:headEnd type="none" w="med" len="med"/>
                      <a:tailEnd type="none" w="med" len="med"/>
                    </a:lnT>
                    <a:lnB w="12700" cap="flat" cmpd="sng" algn="ctr">
                      <a:solidFill>
                        <a:srgbClr val="2C3832"/>
                      </a:solidFill>
                      <a:prstDash val="solid"/>
                      <a:round/>
                      <a:headEnd type="none" w="med" len="med"/>
                      <a:tailEnd type="none" w="med" len="med"/>
                    </a:lnB>
                  </a:tcPr>
                </a:tc>
              </a:tr>
              <a:tr h="419090">
                <a:tc>
                  <a:txBody>
                    <a:bodyPr/>
                    <a:lstStyle/>
                    <a:p>
                      <a:pPr algn="l" indent="0" marL="0">
                        <a:buNone/>
                      </a:pPr>
                      <a:r>
                        <a:rPr lang="en-US" sz="1500" dirty="0">
                          <a:solidFill>
                            <a:srgbClr val="C9CFC8"/>
                          </a:solidFill>
                          <a:latin typeface="Hubot Sans" pitchFamily="34" charset="0"/>
                          <a:ea typeface="Hubot Sans" pitchFamily="34" charset="-122"/>
                          <a:cs typeface="Hubot Sans" pitchFamily="34" charset="-120"/>
                        </a:rPr>
                        <a:t>New</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2C3832"/>
                      </a:solidFill>
                      <a:prstDash val="solid"/>
                      <a:round/>
                      <a:headEnd type="none" w="med" len="med"/>
                      <a:tailEnd type="none" w="med" len="med"/>
                    </a:lnT>
                    <a:lnB w="12700" cap="flat" cmpd="sng" algn="ctr">
                      <a:solidFill>
                        <a:srgbClr val="0E1512"/>
                      </a:solidFill>
                      <a:prstDash val="solid"/>
                      <a:round/>
                      <a:headEnd type="none" w="med" len="med"/>
                      <a:tailEnd type="none" w="med" len="med"/>
                    </a:lnB>
                  </a:tcPr>
                </a:tc>
                <a:tc>
                  <a:txBody>
                    <a:bodyPr/>
                    <a:lstStyle/>
                    <a:p>
                      <a:pPr algn="l" indent="0" marL="0">
                        <a:buNone/>
                      </a:pPr>
                      <a:r>
                        <a:rPr lang="en-US" sz="1500" dirty="0">
                          <a:solidFill>
                            <a:srgbClr val="C9CFC8"/>
                          </a:solidFill>
                          <a:latin typeface="Hubot Sans" pitchFamily="34" charset="0"/>
                          <a:ea typeface="Hubot Sans" pitchFamily="34" charset="-122"/>
                          <a:cs typeface="Hubot Sans" pitchFamily="34" charset="-120"/>
                        </a:rPr>
                        <a:t>83</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2C3832"/>
                      </a:solidFill>
                      <a:prstDash val="solid"/>
                      <a:round/>
                      <a:headEnd type="none" w="med" len="med"/>
                      <a:tailEnd type="none" w="med" len="med"/>
                    </a:lnT>
                    <a:lnB w="12700" cap="flat" cmpd="sng" algn="ctr">
                      <a:solidFill>
                        <a:srgbClr val="0E1512"/>
                      </a:solidFill>
                      <a:prstDash val="solid"/>
                      <a:round/>
                      <a:headEnd type="none" w="med" len="med"/>
                      <a:tailEnd type="none" w="med" len="med"/>
                    </a:lnB>
                  </a:tcPr>
                </a:tc>
              </a:tr>
            </a:tbl>
          </a:graphicData>
        </a:graphic>
      </p:graphicFrame>
      <p:sp>
        <p:nvSpPr>
          <p:cNvPr id="5" name="Text 2"/>
          <p:cNvSpPr/>
          <p:nvPr/>
        </p:nvSpPr>
        <p:spPr>
          <a:xfrm>
            <a:off x="6248244" y="1668066"/>
            <a:ext cx="5486263" cy="723900"/>
          </a:xfrm>
          <a:prstGeom prst="rect">
            <a:avLst/>
          </a:prstGeom>
          <a:noFill/>
          <a:ln/>
        </p:spPr>
        <p:txBody>
          <a:bodyPr wrap="square" lIns="0" tIns="0" rIns="0" bIns="0" rtlCol="0" anchor="t">
            <a:normAutofit/>
          </a:bodyPr>
          <a:lstStyle/>
          <a:p>
            <a:pPr algn="l" indent="0" marL="0">
              <a:lnSpc>
                <a:spcPct val="79000"/>
              </a:lnSpc>
              <a:buNone/>
            </a:pPr>
            <a:r>
              <a:rPr lang="en-US" sz="3000" dirty="0">
                <a:solidFill>
                  <a:srgbClr val="EEF0EA"/>
                </a:solidFill>
                <a:latin typeface="Big Shoulders ExtraBold" pitchFamily="34" charset="0"/>
                <a:ea typeface="Big Shoulders ExtraBold" pitchFamily="34" charset="-122"/>
                <a:cs typeface="Big Shoulders ExtraBold" pitchFamily="34" charset="-120"/>
              </a:rPr>
              <a:t>REPEAT BUYERS · MORE THAN FIVE PURCHASES</a:t>
            </a:r>
            <a:endParaRPr lang="en-US" sz="3000" dirty="0"/>
          </a:p>
        </p:txBody>
      </p:sp>
      <p:pic>
        <p:nvPicPr>
          <p:cNvPr id="6" name="Image 0" descr="preencoded.png">    </p:cNvPr>
          <p:cNvPicPr>
            <a:picLocks noChangeAspect="1"/>
          </p:cNvPicPr>
          <p:nvPr/>
        </p:nvPicPr>
        <p:blipFill>
          <a:blip r:embed="rId1"/>
          <a:stretch>
            <a:fillRect/>
          </a:stretch>
        </p:blipFill>
        <p:spPr>
          <a:xfrm>
            <a:off x="6248244" y="2477691"/>
            <a:ext cx="5460863" cy="3175000"/>
          </a:xfrm>
          <a:prstGeom prst="rect">
            <a:avLst/>
          </a:prstGeom>
        </p:spPr>
      </p:pic>
      <p:sp>
        <p:nvSpPr>
          <p:cNvPr id="7" name="Text 3"/>
          <p:cNvSpPr/>
          <p:nvPr/>
        </p:nvSpPr>
        <p:spPr>
          <a:xfrm>
            <a:off x="6248244" y="5738416"/>
            <a:ext cx="5486263"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C9CFC8"/>
                </a:solidFill>
                <a:latin typeface="Hubot Sans" pitchFamily="34" charset="0"/>
                <a:ea typeface="Hubot Sans" pitchFamily="34" charset="-122"/>
                <a:cs typeface="Hubot Sans" pitchFamily="34" charset="-120"/>
              </a:rPr>
              <a:t>The highest-propensity customers are not automatically converting into the formal relationship.</a:t>
            </a:r>
            <a:endParaRPr lang="en-US" sz="1500" dirty="0"/>
          </a:p>
        </p:txBody>
      </p:sp>
      <p:sp>
        <p:nvSpPr>
          <p:cNvPr id="8" name="Text 4"/>
          <p:cNvSpPr/>
          <p:nvPr/>
        </p:nvSpPr>
        <p:spPr>
          <a:xfrm>
            <a:off x="11573975" y="6540500"/>
            <a:ext cx="617720" cy="177800"/>
          </a:xfrm>
          <a:prstGeom prst="rect">
            <a:avLst/>
          </a:prstGeom>
          <a:noFill/>
          <a:ln/>
        </p:spPr>
        <p:txBody>
          <a:bodyPr wrap="none" lIns="0" tIns="0" rIns="0" bIns="0" rtlCol="0" anchor="ctr"/>
          <a:lstStyle/>
          <a:p>
            <a:pPr algn="l" indent="0" marL="0">
              <a:lnSpc>
                <a:spcPct val="117000"/>
              </a:lnSpc>
              <a:buNone/>
            </a:pPr>
            <a:r>
              <a:rPr lang="en-US" sz="1000" dirty="0">
                <a:solidFill>
                  <a:srgbClr val="C9CFC8"/>
                </a:solidFill>
                <a:latin typeface="Hubot Sans" pitchFamily="34" charset="0"/>
                <a:ea typeface="Hubot Sans" pitchFamily="34" charset="-122"/>
                <a:cs typeface="Hubot Sans"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189" y="457200"/>
            <a:ext cx="6908627"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EEF0EA"/>
                </a:solidFill>
                <a:latin typeface="Big Shoulders ExtraBold" pitchFamily="34" charset="0"/>
                <a:ea typeface="Big Shoulders ExtraBold" pitchFamily="34" charset="-122"/>
                <a:cs typeface="Big Shoulders ExtraBold" pitchFamily="34" charset="-120"/>
              </a:rPr>
              <a:t>YOUNG ADULTS LEAD REVENUE; AGE GROUPS REMAIN CLOSE</a:t>
            </a:r>
            <a:endParaRPr lang="en-US" sz="4400" dirty="0"/>
          </a:p>
        </p:txBody>
      </p:sp>
      <p:sp>
        <p:nvSpPr>
          <p:cNvPr id="3" name="Text 1"/>
          <p:cNvSpPr/>
          <p:nvPr/>
        </p:nvSpPr>
        <p:spPr>
          <a:xfrm>
            <a:off x="457189" y="1668066"/>
            <a:ext cx="7365816"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REVENUE BY AGE GROUP</a:t>
            </a:r>
            <a:endParaRPr lang="en-US" sz="1100" dirty="0"/>
          </a:p>
        </p:txBody>
      </p:sp>
      <p:pic>
        <p:nvPicPr>
          <p:cNvPr id="4" name="Image 0" descr="preencoded.png">    </p:cNvPr>
          <p:cNvPicPr>
            <a:picLocks noChangeAspect="1"/>
          </p:cNvPicPr>
          <p:nvPr/>
        </p:nvPicPr>
        <p:blipFill>
          <a:blip r:embed="rId1"/>
          <a:stretch>
            <a:fillRect/>
          </a:stretch>
        </p:blipFill>
        <p:spPr>
          <a:xfrm>
            <a:off x="457189" y="1982986"/>
            <a:ext cx="6908627" cy="2035572"/>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189" y="4151908"/>
          <a:ext cx="9143771" cy="914400"/>
        </p:xfrm>
        <a:graphic>
          <a:graphicData uri="http://schemas.openxmlformats.org/drawingml/2006/table">
            <a:tbl>
              <a:tblPr/>
              <a:tblGrid>
                <a:gridCol w="3799745"/>
                <a:gridCol w="3108882"/>
              </a:tblGrid>
              <a:tr h="425439">
                <a:tc>
                  <a:txBody>
                    <a:bodyPr/>
                    <a:lstStyle/>
                    <a:p>
                      <a:pPr algn="l" indent="0" marL="0">
                        <a:buNone/>
                      </a:pPr>
                      <a:r>
                        <a:rPr lang="en-US" sz="1500" dirty="0">
                          <a:solidFill>
                            <a:srgbClr val="EEF0EA"/>
                          </a:solidFill>
                          <a:latin typeface="Hubot Sans" pitchFamily="34" charset="0"/>
                          <a:ea typeface="Hubot Sans" pitchFamily="34" charset="-122"/>
                          <a:cs typeface="Hubot Sans" pitchFamily="34" charset="-120"/>
                        </a:rPr>
                        <a:t>Shipping</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0E1512"/>
                      </a:solidFill>
                      <a:prstDash val="solid"/>
                      <a:round/>
                      <a:headEnd type="none" w="med" len="med"/>
                      <a:tailEnd type="none" w="med" len="med"/>
                    </a:lnT>
                    <a:lnB w="12700" cap="flat" cmpd="sng" algn="ctr">
                      <a:solidFill>
                        <a:srgbClr val="2C3832"/>
                      </a:solidFill>
                      <a:prstDash val="solid"/>
                      <a:round/>
                      <a:headEnd type="none" w="med" len="med"/>
                      <a:tailEnd type="none" w="med" len="med"/>
                    </a:lnB>
                  </a:tcPr>
                </a:tc>
                <a:tc>
                  <a:txBody>
                    <a:bodyPr/>
                    <a:lstStyle/>
                    <a:p>
                      <a:pPr algn="l" indent="0" marL="0">
                        <a:buNone/>
                      </a:pPr>
                      <a:r>
                        <a:rPr lang="en-US" sz="1500" dirty="0">
                          <a:solidFill>
                            <a:srgbClr val="EEF0EA"/>
                          </a:solidFill>
                          <a:latin typeface="Hubot Sans" pitchFamily="34" charset="0"/>
                          <a:ea typeface="Hubot Sans" pitchFamily="34" charset="-122"/>
                          <a:cs typeface="Hubot Sans" pitchFamily="34" charset="-120"/>
                        </a:rPr>
                        <a:t>Average per purchase</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0E1512"/>
                      </a:solidFill>
                      <a:prstDash val="solid"/>
                      <a:round/>
                      <a:headEnd type="none" w="med" len="med"/>
                      <a:tailEnd type="none" w="med" len="med"/>
                    </a:lnT>
                    <a:lnB w="12700" cap="flat" cmpd="sng" algn="ctr">
                      <a:solidFill>
                        <a:srgbClr val="2C3832"/>
                      </a:solidFill>
                      <a:prstDash val="solid"/>
                      <a:round/>
                      <a:headEnd type="none" w="med" len="med"/>
                      <a:tailEnd type="none" w="med" len="med"/>
                    </a:lnB>
                  </a:tcPr>
                </a:tc>
              </a:tr>
              <a:tr h="425439">
                <a:tc>
                  <a:txBody>
                    <a:bodyPr/>
                    <a:lstStyle/>
                    <a:p>
                      <a:pPr algn="l" indent="0" marL="0">
                        <a:buNone/>
                      </a:pPr>
                      <a:r>
                        <a:rPr lang="en-US" sz="1500" dirty="0">
                          <a:solidFill>
                            <a:srgbClr val="C9CFC8"/>
                          </a:solidFill>
                          <a:latin typeface="Hubot Sans" pitchFamily="34" charset="0"/>
                          <a:ea typeface="Hubot Sans" pitchFamily="34" charset="-122"/>
                          <a:cs typeface="Hubot Sans" pitchFamily="34" charset="-120"/>
                        </a:rPr>
                        <a:t>Express</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2C3832"/>
                      </a:solidFill>
                      <a:prstDash val="solid"/>
                      <a:round/>
                      <a:headEnd type="none" w="med" len="med"/>
                      <a:tailEnd type="none" w="med" len="med"/>
                    </a:lnT>
                    <a:lnB w="12700" cap="flat" cmpd="sng" algn="ctr">
                      <a:solidFill>
                        <a:srgbClr val="2C3832"/>
                      </a:solidFill>
                      <a:prstDash val="solid"/>
                      <a:round/>
                      <a:headEnd type="none" w="med" len="med"/>
                      <a:tailEnd type="none" w="med" len="med"/>
                    </a:lnB>
                  </a:tcPr>
                </a:tc>
                <a:tc>
                  <a:txBody>
                    <a:bodyPr/>
                    <a:lstStyle/>
                    <a:p>
                      <a:pPr algn="l" indent="0" marL="0">
                        <a:buNone/>
                      </a:pPr>
                      <a:r>
                        <a:rPr lang="en-US" sz="1500" dirty="0">
                          <a:solidFill>
                            <a:srgbClr val="C9CFC8"/>
                          </a:solidFill>
                          <a:latin typeface="Hubot Sans" pitchFamily="34" charset="0"/>
                          <a:ea typeface="Hubot Sans" pitchFamily="34" charset="-122"/>
                          <a:cs typeface="Hubot Sans" pitchFamily="34" charset="-120"/>
                        </a:rPr>
                        <a:t>$60.48</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2C3832"/>
                      </a:solidFill>
                      <a:prstDash val="solid"/>
                      <a:round/>
                      <a:headEnd type="none" w="med" len="med"/>
                      <a:tailEnd type="none" w="med" len="med"/>
                    </a:lnT>
                    <a:lnB w="12700" cap="flat" cmpd="sng" algn="ctr">
                      <a:solidFill>
                        <a:srgbClr val="2C3832"/>
                      </a:solidFill>
                      <a:prstDash val="solid"/>
                      <a:round/>
                      <a:headEnd type="none" w="med" len="med"/>
                      <a:tailEnd type="none" w="med" len="med"/>
                    </a:lnB>
                  </a:tcPr>
                </a:tc>
              </a:tr>
              <a:tr h="419090">
                <a:tc>
                  <a:txBody>
                    <a:bodyPr/>
                    <a:lstStyle/>
                    <a:p>
                      <a:pPr algn="l" indent="0" marL="0">
                        <a:buNone/>
                      </a:pPr>
                      <a:r>
                        <a:rPr lang="en-US" sz="1500" dirty="0">
                          <a:solidFill>
                            <a:srgbClr val="C9CFC8"/>
                          </a:solidFill>
                          <a:latin typeface="Hubot Sans" pitchFamily="34" charset="0"/>
                          <a:ea typeface="Hubot Sans" pitchFamily="34" charset="-122"/>
                          <a:cs typeface="Hubot Sans" pitchFamily="34" charset="-120"/>
                        </a:rPr>
                        <a:t>Standard</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2C3832"/>
                      </a:solidFill>
                      <a:prstDash val="solid"/>
                      <a:round/>
                      <a:headEnd type="none" w="med" len="med"/>
                      <a:tailEnd type="none" w="med" len="med"/>
                    </a:lnT>
                    <a:lnB w="12700" cap="flat" cmpd="sng" algn="ctr">
                      <a:solidFill>
                        <a:srgbClr val="0E1512"/>
                      </a:solidFill>
                      <a:prstDash val="solid"/>
                      <a:round/>
                      <a:headEnd type="none" w="med" len="med"/>
                      <a:tailEnd type="none" w="med" len="med"/>
                    </a:lnB>
                  </a:tcPr>
                </a:tc>
                <a:tc>
                  <a:txBody>
                    <a:bodyPr/>
                    <a:lstStyle/>
                    <a:p>
                      <a:pPr algn="l" indent="0" marL="0">
                        <a:buNone/>
                      </a:pPr>
                      <a:r>
                        <a:rPr lang="en-US" sz="1500" dirty="0">
                          <a:solidFill>
                            <a:srgbClr val="C9CFC8"/>
                          </a:solidFill>
                          <a:latin typeface="Hubot Sans" pitchFamily="34" charset="0"/>
                          <a:ea typeface="Hubot Sans" pitchFamily="34" charset="-122"/>
                          <a:cs typeface="Hubot Sans" pitchFamily="34" charset="-120"/>
                        </a:rPr>
                        <a:t>$58.46</a:t>
                      </a:r>
                      <a:endParaRPr lang="en-US" sz="1500" dirty="0">
                        <a:latin typeface="Hubot Sans" charset="0"/>
                        <a:ea typeface="Hubot Sans" charset="0"/>
                        <a:cs typeface="Hubot Sans" charset="0"/>
                      </a:endParaRPr>
                    </a:p>
                  </a:txBody>
                  <a:tcPr marL="142871" marR="142871" marT="76198" marB="76198" anchor="ctr">
                    <a:lnL w="12700" cap="flat" cmpd="sng" algn="ctr">
                      <a:solidFill>
                        <a:srgbClr val="0E1512"/>
                      </a:solidFill>
                      <a:prstDash val="solid"/>
                      <a:round/>
                      <a:headEnd type="none" w="med" len="med"/>
                      <a:tailEnd type="none" w="med" len="med"/>
                    </a:lnL>
                    <a:lnR w="12700" cap="flat" cmpd="sng" algn="ctr">
                      <a:solidFill>
                        <a:srgbClr val="0E1512"/>
                      </a:solidFill>
                      <a:prstDash val="solid"/>
                      <a:round/>
                      <a:headEnd type="none" w="med" len="med"/>
                      <a:tailEnd type="none" w="med" len="med"/>
                    </a:lnR>
                    <a:lnT w="12700" cap="flat" cmpd="sng" algn="ctr">
                      <a:solidFill>
                        <a:srgbClr val="2C3832"/>
                      </a:solidFill>
                      <a:prstDash val="solid"/>
                      <a:round/>
                      <a:headEnd type="none" w="med" len="med"/>
                      <a:tailEnd type="none" w="med" len="med"/>
                    </a:lnT>
                    <a:lnB w="12700" cap="flat" cmpd="sng" algn="ctr">
                      <a:solidFill>
                        <a:srgbClr val="0E1512"/>
                      </a:solidFill>
                      <a:prstDash val="solid"/>
                      <a:round/>
                      <a:headEnd type="none" w="med" len="med"/>
                      <a:tailEnd type="none" w="med" len="med"/>
                    </a:lnB>
                  </a:tcPr>
                </a:tc>
              </a:tr>
            </a:tbl>
          </a:graphicData>
        </a:graphic>
      </p:graphicFrame>
      <p:sp>
        <p:nvSpPr>
          <p:cNvPr id="6" name="Text 2"/>
          <p:cNvSpPr/>
          <p:nvPr/>
        </p:nvSpPr>
        <p:spPr>
          <a:xfrm>
            <a:off x="457189" y="5555258"/>
            <a:ext cx="6908627"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C9CFC8"/>
                </a:solidFill>
                <a:latin typeface="Hubot Sans" pitchFamily="34" charset="0"/>
                <a:ea typeface="Hubot Sans" pitchFamily="34" charset="-122"/>
                <a:cs typeface="Hubot Sans" pitchFamily="34" charset="-120"/>
              </a:rPr>
              <a:t>Prioritize young adults, but avoid a single-segment strategy: all four groups contribute within a relatively narrow band.</a:t>
            </a:r>
            <a:endParaRPr lang="en-US" sz="1500" dirty="0"/>
          </a:p>
        </p:txBody>
      </p:sp>
      <p:pic>
        <p:nvPicPr>
          <p:cNvPr id="7" name="Image 1" descr="preencoded.png">    </p:cNvPr>
          <p:cNvPicPr>
            <a:picLocks noChangeAspect="1"/>
          </p:cNvPicPr>
          <p:nvPr/>
        </p:nvPicPr>
        <p:blipFill>
          <a:blip r:embed="rId2"/>
          <a:stretch>
            <a:fillRect/>
          </a:stretch>
        </p:blipFill>
        <p:spPr>
          <a:xfrm>
            <a:off x="8280193" y="0"/>
            <a:ext cx="3911502" cy="5943600"/>
          </a:xfrm>
          <a:prstGeom prst="rect">
            <a:avLst/>
          </a:prstGeom>
        </p:spPr>
      </p:pic>
      <p:sp>
        <p:nvSpPr>
          <p:cNvPr id="8" name="Text 3"/>
          <p:cNvSpPr/>
          <p:nvPr/>
        </p:nvSpPr>
        <p:spPr>
          <a:xfrm>
            <a:off x="8508787" y="6096000"/>
            <a:ext cx="3454314" cy="283170"/>
          </a:xfrm>
          <a:prstGeom prst="rect">
            <a:avLst/>
          </a:prstGeom>
          <a:noFill/>
          <a:ln/>
        </p:spPr>
        <p:txBody>
          <a:bodyPr wrap="square" lIns="0" tIns="101598" rIns="0" bIns="0" rtlCol="0" anchor="t">
            <a:normAutofit/>
          </a:bodyPr>
          <a:lstStyle/>
          <a:p>
            <a:pPr algn="l" indent="0" marL="0">
              <a:lnSpc>
                <a:spcPct val="108000"/>
              </a:lnSpc>
              <a:buNone/>
            </a:pPr>
            <a:r>
              <a:rPr lang="en-US" sz="1100" spc="88" kern="0" dirty="0">
                <a:solidFill>
                  <a:srgbClr val="95A199"/>
                </a:solidFill>
                <a:latin typeface="Martian Mono" pitchFamily="34" charset="0"/>
                <a:ea typeface="Martian Mono" pitchFamily="34" charset="-122"/>
                <a:cs typeface="Martian Mono" pitchFamily="34" charset="-120"/>
              </a:rPr>
              <a:t>PRIORITY SEGMENT · YOUNG ADULTS</a:t>
            </a:r>
            <a:endParaRPr lang="en-US" sz="1100" dirty="0"/>
          </a:p>
        </p:txBody>
      </p:sp>
      <p:sp>
        <p:nvSpPr>
          <p:cNvPr id="9" name="Text 4"/>
          <p:cNvSpPr/>
          <p:nvPr/>
        </p:nvSpPr>
        <p:spPr>
          <a:xfrm>
            <a:off x="11570204" y="6540500"/>
            <a:ext cx="621491" cy="177800"/>
          </a:xfrm>
          <a:prstGeom prst="rect">
            <a:avLst/>
          </a:prstGeom>
          <a:noFill/>
          <a:ln/>
        </p:spPr>
        <p:txBody>
          <a:bodyPr wrap="none" lIns="0" tIns="0" rIns="0" bIns="0" rtlCol="0" anchor="ctr"/>
          <a:lstStyle/>
          <a:p>
            <a:pPr algn="l" indent="0" marL="0">
              <a:lnSpc>
                <a:spcPct val="117000"/>
              </a:lnSpc>
              <a:buNone/>
            </a:pPr>
            <a:r>
              <a:rPr lang="en-US" sz="1000" dirty="0">
                <a:solidFill>
                  <a:srgbClr val="C9CFC8"/>
                </a:solidFill>
                <a:latin typeface="Hubot Sans" pitchFamily="34" charset="0"/>
                <a:ea typeface="Hubot Sans" pitchFamily="34" charset="-122"/>
                <a:cs typeface="Hubot Sans"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189" y="457200"/>
            <a:ext cx="11277318" cy="1061641"/>
          </a:xfrm>
          <a:prstGeom prst="rect">
            <a:avLst/>
          </a:prstGeom>
          <a:noFill/>
          <a:ln/>
        </p:spPr>
        <p:txBody>
          <a:bodyPr wrap="square" lIns="0" tIns="0" rIns="0" bIns="0" rtlCol="0" anchor="t">
            <a:normAutofit/>
          </a:bodyPr>
          <a:lstStyle/>
          <a:p>
            <a:pPr algn="l" indent="0" marL="0">
              <a:lnSpc>
                <a:spcPct val="79000"/>
              </a:lnSpc>
              <a:buNone/>
            </a:pPr>
            <a:r>
              <a:rPr lang="en-US" sz="4400" dirty="0">
                <a:solidFill>
                  <a:srgbClr val="EEF0EA"/>
                </a:solidFill>
                <a:latin typeface="Big Shoulders ExtraBold" pitchFamily="34" charset="0"/>
                <a:ea typeface="Big Shoulders ExtraBold" pitchFamily="34" charset="-122"/>
                <a:cs typeface="Big Shoulders ExtraBold" pitchFamily="34" charset="-120"/>
              </a:rPr>
              <a:t>PRODUCT SATISFACTION IS STRONGEST IN ACCESSORIES AND FOOTWEAR</a:t>
            </a:r>
            <a:endParaRPr lang="en-US" sz="4400" dirty="0"/>
          </a:p>
        </p:txBody>
      </p:sp>
      <p:sp>
        <p:nvSpPr>
          <p:cNvPr id="3" name="Text 1"/>
          <p:cNvSpPr/>
          <p:nvPr/>
        </p:nvSpPr>
        <p:spPr>
          <a:xfrm>
            <a:off x="457189" y="1668066"/>
            <a:ext cx="11734506"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AVERAGE PRODUCT RATINGS · OVERALL AVERAGE 3.75</a:t>
            </a:r>
            <a:endParaRPr lang="en-US" sz="1100" dirty="0"/>
          </a:p>
        </p:txBody>
      </p:sp>
      <p:pic>
        <p:nvPicPr>
          <p:cNvPr id="4" name="Image 0" descr="preencoded.png">    </p:cNvPr>
          <p:cNvPicPr>
            <a:picLocks noChangeAspect="1"/>
          </p:cNvPicPr>
          <p:nvPr/>
        </p:nvPicPr>
        <p:blipFill>
          <a:blip r:embed="rId1"/>
          <a:stretch>
            <a:fillRect/>
          </a:stretch>
        </p:blipFill>
        <p:spPr>
          <a:xfrm>
            <a:off x="457189" y="1982986"/>
            <a:ext cx="10413739" cy="3556000"/>
          </a:xfrm>
          <a:prstGeom prst="rect">
            <a:avLst/>
          </a:prstGeom>
        </p:spPr>
      </p:pic>
      <p:sp>
        <p:nvSpPr>
          <p:cNvPr id="5" name="Text 2"/>
          <p:cNvSpPr/>
          <p:nvPr/>
        </p:nvSpPr>
        <p:spPr>
          <a:xfrm>
            <a:off x="457189" y="5672336"/>
            <a:ext cx="11277318" cy="639961"/>
          </a:xfrm>
          <a:prstGeom prst="rect">
            <a:avLst/>
          </a:prstGeom>
          <a:noFill/>
          <a:ln/>
        </p:spPr>
        <p:txBody>
          <a:bodyPr wrap="square" lIns="0" tIns="0" rIns="0" bIns="0" rtlCol="0" anchor="t">
            <a:normAutofit/>
          </a:bodyPr>
          <a:lstStyle/>
          <a:p>
            <a:pPr algn="l" indent="0" marL="0">
              <a:lnSpc>
                <a:spcPct val="117000"/>
              </a:lnSpc>
              <a:buNone/>
            </a:pPr>
            <a:r>
              <a:rPr lang="en-US" sz="1800" dirty="0">
                <a:solidFill>
                  <a:srgbClr val="C9CFC8"/>
                </a:solidFill>
                <a:latin typeface="Hubot Sans" pitchFamily="34" charset="0"/>
                <a:ea typeface="Hubot Sans" pitchFamily="34" charset="-122"/>
                <a:cs typeface="Hubot Sans" pitchFamily="34" charset="-120"/>
              </a:rPr>
              <a:t>Use the strongest-rated products as proof points in campaigns—then investigate what holds the broader rating at 3.75.</a:t>
            </a:r>
            <a:endParaRPr lang="en-US" sz="1800" dirty="0"/>
          </a:p>
        </p:txBody>
      </p:sp>
      <p:sp>
        <p:nvSpPr>
          <p:cNvPr id="6" name="Text 3"/>
          <p:cNvSpPr/>
          <p:nvPr/>
        </p:nvSpPr>
        <p:spPr>
          <a:xfrm>
            <a:off x="11567922" y="6540500"/>
            <a:ext cx="623773" cy="177800"/>
          </a:xfrm>
          <a:prstGeom prst="rect">
            <a:avLst/>
          </a:prstGeom>
          <a:noFill/>
          <a:ln/>
        </p:spPr>
        <p:txBody>
          <a:bodyPr wrap="none" lIns="0" tIns="0" rIns="0" bIns="0" rtlCol="0" anchor="ctr"/>
          <a:lstStyle/>
          <a:p>
            <a:pPr algn="l" indent="0" marL="0">
              <a:lnSpc>
                <a:spcPct val="117000"/>
              </a:lnSpc>
              <a:buNone/>
            </a:pPr>
            <a:r>
              <a:rPr lang="en-US" sz="1000" dirty="0">
                <a:solidFill>
                  <a:srgbClr val="C9CFC8"/>
                </a:solidFill>
                <a:latin typeface="Hubot Sans" pitchFamily="34" charset="0"/>
                <a:ea typeface="Hubot Sans" pitchFamily="34" charset="-122"/>
                <a:cs typeface="Hubot Sans"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189" y="457200"/>
            <a:ext cx="11277318" cy="530820"/>
          </a:xfrm>
          <a:prstGeom prst="rect">
            <a:avLst/>
          </a:prstGeom>
          <a:noFill/>
          <a:ln/>
        </p:spPr>
        <p:txBody>
          <a:bodyPr wrap="none" lIns="0" tIns="0" rIns="0" bIns="0" rtlCol="0" anchor="t"/>
          <a:lstStyle/>
          <a:p>
            <a:pPr algn="l" indent="0" marL="0">
              <a:lnSpc>
                <a:spcPct val="79000"/>
              </a:lnSpc>
              <a:buNone/>
            </a:pPr>
            <a:r>
              <a:rPr lang="en-US" sz="4400" dirty="0">
                <a:solidFill>
                  <a:srgbClr val="EEF0EA"/>
                </a:solidFill>
                <a:latin typeface="Big Shoulders ExtraBold" pitchFamily="34" charset="0"/>
                <a:ea typeface="Big Shoulders ExtraBold" pitchFamily="34" charset="-122"/>
                <a:cs typeface="Big Shoulders ExtraBold" pitchFamily="34" charset="-120"/>
              </a:rPr>
              <a:t>FIVE MOVES TO CONVERT ANALYSIS INTO GROWTH</a:t>
            </a:r>
            <a:endParaRPr lang="en-US" sz="4400" dirty="0"/>
          </a:p>
        </p:txBody>
      </p:sp>
      <p:sp>
        <p:nvSpPr>
          <p:cNvPr id="3" name="Text 1"/>
          <p:cNvSpPr/>
          <p:nvPr/>
        </p:nvSpPr>
        <p:spPr>
          <a:xfrm>
            <a:off x="457189" y="1137245"/>
            <a:ext cx="11734506" cy="181570"/>
          </a:xfrm>
          <a:prstGeom prst="rect">
            <a:avLst/>
          </a:prstGeom>
          <a:noFill/>
          <a:ln/>
        </p:spPr>
        <p:txBody>
          <a:bodyPr wrap="none" lIns="0" tIns="0" rIns="0" bIns="0" rtlCol="0" anchor="t"/>
          <a:lstStyle/>
          <a:p>
            <a:pPr algn="l" indent="0" marL="0">
              <a:lnSpc>
                <a:spcPct val="108000"/>
              </a:lnSpc>
              <a:buNone/>
            </a:pPr>
            <a:r>
              <a:rPr lang="en-US" sz="1100" spc="66" kern="0" dirty="0">
                <a:solidFill>
                  <a:srgbClr val="95A199"/>
                </a:solidFill>
                <a:latin typeface="Martian Mono" pitchFamily="34" charset="0"/>
                <a:ea typeface="Martian Mono" pitchFamily="34" charset="-122"/>
                <a:cs typeface="Martian Mono" pitchFamily="34" charset="-120"/>
              </a:rPr>
              <a:t>EXECUTIVE READ</a:t>
            </a:r>
            <a:endParaRPr lang="en-US" sz="1100" dirty="0"/>
          </a:p>
        </p:txBody>
      </p:sp>
      <p:sp>
        <p:nvSpPr>
          <p:cNvPr id="4" name="Text 2"/>
          <p:cNvSpPr/>
          <p:nvPr/>
        </p:nvSpPr>
        <p:spPr>
          <a:xfrm>
            <a:off x="457189" y="1572816"/>
            <a:ext cx="11277318" cy="361950"/>
          </a:xfrm>
          <a:prstGeom prst="rect">
            <a:avLst/>
          </a:prstGeom>
          <a:noFill/>
          <a:ln/>
        </p:spPr>
        <p:txBody>
          <a:bodyPr wrap="none" lIns="0" tIns="0" rIns="0" bIns="0" rtlCol="0" anchor="t"/>
          <a:lstStyle/>
          <a:p>
            <a:pPr algn="l" indent="0" marL="0">
              <a:lnSpc>
                <a:spcPct val="79000"/>
              </a:lnSpc>
              <a:buNone/>
            </a:pPr>
            <a:r>
              <a:rPr lang="en-US" sz="3000" dirty="0">
                <a:solidFill>
                  <a:srgbClr val="EEF0EA"/>
                </a:solidFill>
                <a:latin typeface="Big Shoulders ExtraBold" pitchFamily="34" charset="0"/>
                <a:ea typeface="Big Shoulders ExtraBold" pitchFamily="34" charset="-122"/>
                <a:cs typeface="Big Shoulders ExtraBold" pitchFamily="34" charset="-120"/>
              </a:rPr>
              <a:t>RETENTION FIRST</a:t>
            </a:r>
            <a:endParaRPr lang="en-US" sz="3000" dirty="0"/>
          </a:p>
        </p:txBody>
      </p:sp>
      <p:sp>
        <p:nvSpPr>
          <p:cNvPr id="5" name="Shape 3"/>
          <p:cNvSpPr/>
          <p:nvPr/>
        </p:nvSpPr>
        <p:spPr>
          <a:xfrm>
            <a:off x="457189" y="2083991"/>
            <a:ext cx="3682908" cy="2137271"/>
          </a:xfrm>
          <a:prstGeom prst="roundRect">
            <a:avLst>
              <a:gd name="adj" fmla="val 1337"/>
            </a:avLst>
          </a:prstGeom>
          <a:solidFill>
            <a:srgbClr val="FFB000"/>
          </a:solidFill>
          <a:ln w="25399">
            <a:solidFill>
              <a:srgbClr val="464D4A"/>
            </a:solidFill>
            <a:prstDash val="solid"/>
          </a:ln>
        </p:spPr>
      </p:sp>
      <p:sp>
        <p:nvSpPr>
          <p:cNvPr id="6" name="Shape 4"/>
          <p:cNvSpPr/>
          <p:nvPr/>
        </p:nvSpPr>
        <p:spPr>
          <a:xfrm>
            <a:off x="711182" y="2337991"/>
            <a:ext cx="398155" cy="333375"/>
          </a:xfrm>
          <a:prstGeom prst="roundRect">
            <a:avLst>
              <a:gd name="adj" fmla="val 17142"/>
            </a:avLst>
          </a:prstGeom>
          <a:solidFill>
            <a:srgbClr val="FFB000"/>
          </a:solidFill>
          <a:ln/>
        </p:spPr>
      </p:sp>
      <p:sp>
        <p:nvSpPr>
          <p:cNvPr id="7" name="Text 5"/>
          <p:cNvSpPr/>
          <p:nvPr/>
        </p:nvSpPr>
        <p:spPr>
          <a:xfrm>
            <a:off x="806430" y="2409428"/>
            <a:ext cx="817244" cy="190500"/>
          </a:xfrm>
          <a:prstGeom prst="rect">
            <a:avLst/>
          </a:prstGeom>
          <a:noFill/>
          <a:ln/>
        </p:spPr>
        <p:txBody>
          <a:bodyPr wrap="none" lIns="0" tIns="0" rIns="0" bIns="0" rtlCol="0" anchor="t"/>
          <a:lstStyle/>
          <a:p>
            <a:pPr algn="l" indent="0" marL="0">
              <a:lnSpc>
                <a:spcPct val="83000"/>
              </a:lnSpc>
              <a:buNone/>
            </a:pPr>
            <a:r>
              <a:rPr lang="en-US" sz="1500" dirty="0">
                <a:solidFill>
                  <a:srgbClr val="000000"/>
                </a:solidFill>
                <a:latin typeface="Hubot Sans SemiBold" pitchFamily="34" charset="0"/>
                <a:ea typeface="Hubot Sans SemiBold" pitchFamily="34" charset="-122"/>
                <a:cs typeface="Hubot Sans SemiBold" pitchFamily="34" charset="-120"/>
              </a:rPr>
              <a:t>01</a:t>
            </a:r>
            <a:endParaRPr lang="en-US" sz="1500" dirty="0"/>
          </a:p>
        </p:txBody>
      </p:sp>
      <p:sp>
        <p:nvSpPr>
          <p:cNvPr id="8" name="Text 6"/>
          <p:cNvSpPr/>
          <p:nvPr/>
        </p:nvSpPr>
        <p:spPr>
          <a:xfrm>
            <a:off x="711182" y="2731691"/>
            <a:ext cx="3174921" cy="274241"/>
          </a:xfrm>
          <a:prstGeom prst="rect">
            <a:avLst/>
          </a:prstGeom>
          <a:noFill/>
          <a:ln/>
        </p:spPr>
        <p:txBody>
          <a:bodyPr wrap="none" lIns="0" tIns="0" rIns="0" bIns="0" rtlCol="0" anchor="t"/>
          <a:lstStyle/>
          <a:p>
            <a:pPr algn="l" indent="0" marL="0">
              <a:lnSpc>
                <a:spcPct val="113000"/>
              </a:lnSpc>
              <a:buNone/>
            </a:pPr>
            <a:r>
              <a:rPr lang="en-US" sz="1600" dirty="0">
                <a:solidFill>
                  <a:srgbClr val="000000"/>
                </a:solidFill>
                <a:latin typeface="Hubot Sans" pitchFamily="34" charset="0"/>
                <a:ea typeface="Hubot Sans" pitchFamily="34" charset="-122"/>
                <a:cs typeface="Hubot Sans" pitchFamily="34" charset="-120"/>
              </a:rPr>
              <a:t>Reward frequency</a:t>
            </a:r>
            <a:endParaRPr lang="en-US" sz="1600" dirty="0"/>
          </a:p>
        </p:txBody>
      </p:sp>
      <p:sp>
        <p:nvSpPr>
          <p:cNvPr id="9" name="Text 7"/>
          <p:cNvSpPr/>
          <p:nvPr/>
        </p:nvSpPr>
        <p:spPr>
          <a:xfrm>
            <a:off x="711182" y="3113881"/>
            <a:ext cx="3174921" cy="85338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000000"/>
                </a:solidFill>
                <a:latin typeface="Hubot Sans" pitchFamily="34" charset="0"/>
                <a:ea typeface="Hubot Sans" pitchFamily="34" charset="-122"/>
                <a:cs typeface="Hubot Sans" pitchFamily="34" charset="-120"/>
              </a:rPr>
              <a:t>Give subscribers benefits that reward frequency, not just a discount.</a:t>
            </a:r>
            <a:endParaRPr lang="en-US" sz="1600" dirty="0"/>
          </a:p>
        </p:txBody>
      </p:sp>
      <p:sp>
        <p:nvSpPr>
          <p:cNvPr id="10" name="Shape 8"/>
          <p:cNvSpPr/>
          <p:nvPr/>
        </p:nvSpPr>
        <p:spPr>
          <a:xfrm>
            <a:off x="4292493" y="2083991"/>
            <a:ext cx="3632109" cy="2137271"/>
          </a:xfrm>
          <a:prstGeom prst="roundRect">
            <a:avLst>
              <a:gd name="adj" fmla="val 1337"/>
            </a:avLst>
          </a:prstGeom>
          <a:noFill/>
          <a:ln w="25399">
            <a:solidFill>
              <a:srgbClr val="464D4A"/>
            </a:solidFill>
            <a:prstDash val="solid"/>
          </a:ln>
        </p:spPr>
      </p:sp>
      <p:sp>
        <p:nvSpPr>
          <p:cNvPr id="11" name="Shape 9"/>
          <p:cNvSpPr/>
          <p:nvPr/>
        </p:nvSpPr>
        <p:spPr>
          <a:xfrm>
            <a:off x="4546486" y="2337991"/>
            <a:ext cx="440123" cy="333375"/>
          </a:xfrm>
          <a:prstGeom prst="roundRect">
            <a:avLst>
              <a:gd name="adj" fmla="val 17142"/>
            </a:avLst>
          </a:prstGeom>
          <a:solidFill>
            <a:srgbClr val="FFB000"/>
          </a:solidFill>
          <a:ln/>
        </p:spPr>
      </p:sp>
      <p:sp>
        <p:nvSpPr>
          <p:cNvPr id="12" name="Text 10"/>
          <p:cNvSpPr/>
          <p:nvPr/>
        </p:nvSpPr>
        <p:spPr>
          <a:xfrm>
            <a:off x="4641734" y="2409428"/>
            <a:ext cx="859213" cy="190500"/>
          </a:xfrm>
          <a:prstGeom prst="rect">
            <a:avLst/>
          </a:prstGeom>
          <a:noFill/>
          <a:ln/>
        </p:spPr>
        <p:txBody>
          <a:bodyPr wrap="none" lIns="0" tIns="0" rIns="0" bIns="0" rtlCol="0" anchor="t"/>
          <a:lstStyle/>
          <a:p>
            <a:pPr algn="l" indent="0" marL="0">
              <a:lnSpc>
                <a:spcPct val="83000"/>
              </a:lnSpc>
              <a:buNone/>
            </a:pPr>
            <a:r>
              <a:rPr lang="en-US" sz="1500" dirty="0">
                <a:solidFill>
                  <a:srgbClr val="000000"/>
                </a:solidFill>
                <a:latin typeface="Hubot Sans SemiBold" pitchFamily="34" charset="0"/>
                <a:ea typeface="Hubot Sans SemiBold" pitchFamily="34" charset="-122"/>
                <a:cs typeface="Hubot Sans SemiBold" pitchFamily="34" charset="-120"/>
              </a:rPr>
              <a:t>02</a:t>
            </a:r>
            <a:endParaRPr lang="en-US" sz="1500" dirty="0"/>
          </a:p>
        </p:txBody>
      </p:sp>
      <p:sp>
        <p:nvSpPr>
          <p:cNvPr id="13" name="Text 11"/>
          <p:cNvSpPr/>
          <p:nvPr/>
        </p:nvSpPr>
        <p:spPr>
          <a:xfrm>
            <a:off x="4546486" y="2873871"/>
            <a:ext cx="3124122" cy="274241"/>
          </a:xfrm>
          <a:prstGeom prst="rect">
            <a:avLst/>
          </a:prstGeom>
          <a:noFill/>
          <a:ln/>
        </p:spPr>
        <p:txBody>
          <a:bodyPr wrap="none" lIns="0" tIns="0" rIns="0" bIns="0" rtlCol="0" anchor="t"/>
          <a:lstStyle/>
          <a:p>
            <a:pPr algn="l" indent="0" marL="0">
              <a:lnSpc>
                <a:spcPct val="113000"/>
              </a:lnSpc>
              <a:buNone/>
            </a:pPr>
            <a:r>
              <a:rPr lang="en-US" sz="1600" dirty="0">
                <a:solidFill>
                  <a:srgbClr val="EEF0EA"/>
                </a:solidFill>
                <a:latin typeface="Hubot Sans" pitchFamily="34" charset="0"/>
                <a:ea typeface="Hubot Sans" pitchFamily="34" charset="-122"/>
                <a:cs typeface="Hubot Sans" pitchFamily="34" charset="-120"/>
              </a:rPr>
              <a:t>Activate loyalty</a:t>
            </a:r>
            <a:endParaRPr lang="en-US" sz="1600" dirty="0"/>
          </a:p>
        </p:txBody>
      </p:sp>
      <p:sp>
        <p:nvSpPr>
          <p:cNvPr id="14" name="Text 12"/>
          <p:cNvSpPr/>
          <p:nvPr/>
        </p:nvSpPr>
        <p:spPr>
          <a:xfrm>
            <a:off x="4546486" y="3256062"/>
            <a:ext cx="3124122" cy="56892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C9CFC8"/>
                </a:solidFill>
                <a:latin typeface="Hubot Sans" pitchFamily="34" charset="0"/>
                <a:ea typeface="Hubot Sans" pitchFamily="34" charset="-122"/>
                <a:cs typeface="Hubot Sans" pitchFamily="34" charset="-120"/>
              </a:rPr>
              <a:t>Build loyalty mechanics around the 3,116-customer loyal segment.</a:t>
            </a:r>
            <a:endParaRPr lang="en-US" sz="1600" dirty="0"/>
          </a:p>
        </p:txBody>
      </p:sp>
      <p:sp>
        <p:nvSpPr>
          <p:cNvPr id="15" name="Shape 13"/>
          <p:cNvSpPr/>
          <p:nvPr/>
        </p:nvSpPr>
        <p:spPr>
          <a:xfrm>
            <a:off x="8076998" y="2083991"/>
            <a:ext cx="3657509" cy="2137271"/>
          </a:xfrm>
          <a:prstGeom prst="roundRect">
            <a:avLst>
              <a:gd name="adj" fmla="val 1337"/>
            </a:avLst>
          </a:prstGeom>
          <a:noFill/>
          <a:ln w="25399">
            <a:solidFill>
              <a:srgbClr val="464D4A"/>
            </a:solidFill>
            <a:prstDash val="solid"/>
          </a:ln>
        </p:spPr>
      </p:sp>
      <p:sp>
        <p:nvSpPr>
          <p:cNvPr id="16" name="Shape 14"/>
          <p:cNvSpPr/>
          <p:nvPr/>
        </p:nvSpPr>
        <p:spPr>
          <a:xfrm>
            <a:off x="8330992" y="2337991"/>
            <a:ext cx="440818" cy="333375"/>
          </a:xfrm>
          <a:prstGeom prst="roundRect">
            <a:avLst>
              <a:gd name="adj" fmla="val 17142"/>
            </a:avLst>
          </a:prstGeom>
          <a:solidFill>
            <a:srgbClr val="FFB000"/>
          </a:solidFill>
          <a:ln/>
        </p:spPr>
      </p:sp>
      <p:sp>
        <p:nvSpPr>
          <p:cNvPr id="17" name="Text 15"/>
          <p:cNvSpPr/>
          <p:nvPr/>
        </p:nvSpPr>
        <p:spPr>
          <a:xfrm>
            <a:off x="8426239" y="2409428"/>
            <a:ext cx="859907" cy="190500"/>
          </a:xfrm>
          <a:prstGeom prst="rect">
            <a:avLst/>
          </a:prstGeom>
          <a:noFill/>
          <a:ln/>
        </p:spPr>
        <p:txBody>
          <a:bodyPr wrap="none" lIns="0" tIns="0" rIns="0" bIns="0" rtlCol="0" anchor="t"/>
          <a:lstStyle/>
          <a:p>
            <a:pPr algn="l" indent="0" marL="0">
              <a:lnSpc>
                <a:spcPct val="83000"/>
              </a:lnSpc>
              <a:buNone/>
            </a:pPr>
            <a:r>
              <a:rPr lang="en-US" sz="1500" dirty="0">
                <a:solidFill>
                  <a:srgbClr val="000000"/>
                </a:solidFill>
                <a:latin typeface="Hubot Sans SemiBold" pitchFamily="34" charset="0"/>
                <a:ea typeface="Hubot Sans SemiBold" pitchFamily="34" charset="-122"/>
                <a:cs typeface="Hubot Sans SemiBold" pitchFamily="34" charset="-120"/>
              </a:rPr>
              <a:t>03</a:t>
            </a:r>
            <a:endParaRPr lang="en-US" sz="1500" dirty="0"/>
          </a:p>
        </p:txBody>
      </p:sp>
      <p:sp>
        <p:nvSpPr>
          <p:cNvPr id="18" name="Text 16"/>
          <p:cNvSpPr/>
          <p:nvPr/>
        </p:nvSpPr>
        <p:spPr>
          <a:xfrm>
            <a:off x="8330992" y="2731691"/>
            <a:ext cx="3149521" cy="274241"/>
          </a:xfrm>
          <a:prstGeom prst="rect">
            <a:avLst/>
          </a:prstGeom>
          <a:noFill/>
          <a:ln/>
        </p:spPr>
        <p:txBody>
          <a:bodyPr wrap="none" lIns="0" tIns="0" rIns="0" bIns="0" rtlCol="0" anchor="t"/>
          <a:lstStyle/>
          <a:p>
            <a:pPr algn="l" indent="0" marL="0">
              <a:lnSpc>
                <a:spcPct val="113000"/>
              </a:lnSpc>
              <a:buNone/>
            </a:pPr>
            <a:r>
              <a:rPr lang="en-US" sz="1600" dirty="0">
                <a:solidFill>
                  <a:srgbClr val="EEF0EA"/>
                </a:solidFill>
                <a:latin typeface="Hubot Sans" pitchFamily="34" charset="0"/>
                <a:ea typeface="Hubot Sans" pitchFamily="34" charset="-122"/>
                <a:cs typeface="Hubot Sans" pitchFamily="34" charset="-120"/>
              </a:rPr>
              <a:t>Protect margin</a:t>
            </a:r>
            <a:endParaRPr lang="en-US" sz="1600" dirty="0"/>
          </a:p>
        </p:txBody>
      </p:sp>
      <p:sp>
        <p:nvSpPr>
          <p:cNvPr id="19" name="Text 17"/>
          <p:cNvSpPr/>
          <p:nvPr/>
        </p:nvSpPr>
        <p:spPr>
          <a:xfrm>
            <a:off x="8330992" y="3113881"/>
            <a:ext cx="3149521" cy="85338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C9CFC8"/>
                </a:solidFill>
                <a:latin typeface="Hubot Sans" pitchFamily="34" charset="0"/>
                <a:ea typeface="Hubot Sans" pitchFamily="34" charset="-122"/>
                <a:cs typeface="Hubot Sans" pitchFamily="34" charset="-120"/>
              </a:rPr>
              <a:t>Review discount depth on hats, sneakers, coats, sweaters, and pants.</a:t>
            </a:r>
            <a:endParaRPr lang="en-US" sz="1600" dirty="0"/>
          </a:p>
        </p:txBody>
      </p:sp>
      <p:sp>
        <p:nvSpPr>
          <p:cNvPr id="20" name="Shape 18"/>
          <p:cNvSpPr/>
          <p:nvPr/>
        </p:nvSpPr>
        <p:spPr>
          <a:xfrm>
            <a:off x="457189" y="4373662"/>
            <a:ext cx="3682908" cy="1852811"/>
          </a:xfrm>
          <a:prstGeom prst="roundRect">
            <a:avLst>
              <a:gd name="adj" fmla="val 1542"/>
            </a:avLst>
          </a:prstGeom>
          <a:noFill/>
          <a:ln w="25399">
            <a:solidFill>
              <a:srgbClr val="464D4A"/>
            </a:solidFill>
            <a:prstDash val="solid"/>
          </a:ln>
        </p:spPr>
      </p:sp>
      <p:sp>
        <p:nvSpPr>
          <p:cNvPr id="21" name="Shape 19"/>
          <p:cNvSpPr/>
          <p:nvPr/>
        </p:nvSpPr>
        <p:spPr>
          <a:xfrm>
            <a:off x="711182" y="4627662"/>
            <a:ext cx="453220" cy="333375"/>
          </a:xfrm>
          <a:prstGeom prst="roundRect">
            <a:avLst>
              <a:gd name="adj" fmla="val 17142"/>
            </a:avLst>
          </a:prstGeom>
          <a:solidFill>
            <a:srgbClr val="FFB000"/>
          </a:solidFill>
          <a:ln/>
        </p:spPr>
      </p:sp>
      <p:sp>
        <p:nvSpPr>
          <p:cNvPr id="22" name="Text 20"/>
          <p:cNvSpPr/>
          <p:nvPr/>
        </p:nvSpPr>
        <p:spPr>
          <a:xfrm>
            <a:off x="806430" y="4699099"/>
            <a:ext cx="872309" cy="190500"/>
          </a:xfrm>
          <a:prstGeom prst="rect">
            <a:avLst/>
          </a:prstGeom>
          <a:noFill/>
          <a:ln/>
        </p:spPr>
        <p:txBody>
          <a:bodyPr wrap="none" lIns="0" tIns="0" rIns="0" bIns="0" rtlCol="0" anchor="t"/>
          <a:lstStyle/>
          <a:p>
            <a:pPr algn="l" indent="0" marL="0">
              <a:lnSpc>
                <a:spcPct val="83000"/>
              </a:lnSpc>
              <a:buNone/>
            </a:pPr>
            <a:r>
              <a:rPr lang="en-US" sz="1500" dirty="0">
                <a:solidFill>
                  <a:srgbClr val="000000"/>
                </a:solidFill>
                <a:latin typeface="Hubot Sans SemiBold" pitchFamily="34" charset="0"/>
                <a:ea typeface="Hubot Sans SemiBold" pitchFamily="34" charset="-122"/>
                <a:cs typeface="Hubot Sans SemiBold" pitchFamily="34" charset="-120"/>
              </a:rPr>
              <a:t>04</a:t>
            </a:r>
            <a:endParaRPr lang="en-US" sz="1500" dirty="0"/>
          </a:p>
        </p:txBody>
      </p:sp>
      <p:sp>
        <p:nvSpPr>
          <p:cNvPr id="23" name="Text 21"/>
          <p:cNvSpPr/>
          <p:nvPr/>
        </p:nvSpPr>
        <p:spPr>
          <a:xfrm>
            <a:off x="711182" y="5021362"/>
            <a:ext cx="3174921" cy="274241"/>
          </a:xfrm>
          <a:prstGeom prst="rect">
            <a:avLst/>
          </a:prstGeom>
          <a:noFill/>
          <a:ln/>
        </p:spPr>
        <p:txBody>
          <a:bodyPr wrap="none" lIns="0" tIns="0" rIns="0" bIns="0" rtlCol="0" anchor="t"/>
          <a:lstStyle/>
          <a:p>
            <a:pPr algn="l" indent="0" marL="0">
              <a:lnSpc>
                <a:spcPct val="113000"/>
              </a:lnSpc>
              <a:buNone/>
            </a:pPr>
            <a:r>
              <a:rPr lang="en-US" sz="1600" dirty="0">
                <a:solidFill>
                  <a:srgbClr val="EEF0EA"/>
                </a:solidFill>
                <a:latin typeface="Hubot Sans" pitchFamily="34" charset="0"/>
                <a:ea typeface="Hubot Sans" pitchFamily="34" charset="-122"/>
                <a:cs typeface="Hubot Sans" pitchFamily="34" charset="-120"/>
              </a:rPr>
              <a:t>Prove with product</a:t>
            </a:r>
            <a:endParaRPr lang="en-US" sz="1600" dirty="0"/>
          </a:p>
        </p:txBody>
      </p:sp>
      <p:sp>
        <p:nvSpPr>
          <p:cNvPr id="24" name="Text 22"/>
          <p:cNvSpPr/>
          <p:nvPr/>
        </p:nvSpPr>
        <p:spPr>
          <a:xfrm>
            <a:off x="711182" y="5403552"/>
            <a:ext cx="3174921" cy="56892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C9CFC8"/>
                </a:solidFill>
                <a:latin typeface="Hubot Sans" pitchFamily="34" charset="0"/>
                <a:ea typeface="Hubot Sans" pitchFamily="34" charset="-122"/>
                <a:cs typeface="Hubot Sans" pitchFamily="34" charset="-120"/>
              </a:rPr>
              <a:t>Feature top-rated and best-selling products in campaign creative.</a:t>
            </a:r>
            <a:endParaRPr lang="en-US" sz="1600" dirty="0"/>
          </a:p>
        </p:txBody>
      </p:sp>
      <p:sp>
        <p:nvSpPr>
          <p:cNvPr id="25" name="Shape 23"/>
          <p:cNvSpPr/>
          <p:nvPr/>
        </p:nvSpPr>
        <p:spPr>
          <a:xfrm>
            <a:off x="4292493" y="4373662"/>
            <a:ext cx="7442014" cy="1852811"/>
          </a:xfrm>
          <a:prstGeom prst="roundRect">
            <a:avLst>
              <a:gd name="adj" fmla="val 1542"/>
            </a:avLst>
          </a:prstGeom>
          <a:noFill/>
          <a:ln w="25399">
            <a:solidFill>
              <a:srgbClr val="464D4A"/>
            </a:solidFill>
            <a:prstDash val="solid"/>
          </a:ln>
        </p:spPr>
      </p:sp>
      <p:sp>
        <p:nvSpPr>
          <p:cNvPr id="26" name="Shape 24"/>
          <p:cNvSpPr/>
          <p:nvPr/>
        </p:nvSpPr>
        <p:spPr>
          <a:xfrm>
            <a:off x="4546486" y="4627662"/>
            <a:ext cx="442901" cy="333375"/>
          </a:xfrm>
          <a:prstGeom prst="roundRect">
            <a:avLst>
              <a:gd name="adj" fmla="val 17142"/>
            </a:avLst>
          </a:prstGeom>
          <a:solidFill>
            <a:srgbClr val="FFB000"/>
          </a:solidFill>
          <a:ln/>
        </p:spPr>
      </p:sp>
      <p:sp>
        <p:nvSpPr>
          <p:cNvPr id="27" name="Text 25"/>
          <p:cNvSpPr/>
          <p:nvPr/>
        </p:nvSpPr>
        <p:spPr>
          <a:xfrm>
            <a:off x="4641734" y="4699099"/>
            <a:ext cx="861991" cy="190500"/>
          </a:xfrm>
          <a:prstGeom prst="rect">
            <a:avLst/>
          </a:prstGeom>
          <a:noFill/>
          <a:ln/>
        </p:spPr>
        <p:txBody>
          <a:bodyPr wrap="none" lIns="0" tIns="0" rIns="0" bIns="0" rtlCol="0" anchor="t"/>
          <a:lstStyle/>
          <a:p>
            <a:pPr algn="l" indent="0" marL="0">
              <a:lnSpc>
                <a:spcPct val="83000"/>
              </a:lnSpc>
              <a:buNone/>
            </a:pPr>
            <a:r>
              <a:rPr lang="en-US" sz="1500" dirty="0">
                <a:solidFill>
                  <a:srgbClr val="000000"/>
                </a:solidFill>
                <a:latin typeface="Hubot Sans SemiBold" pitchFamily="34" charset="0"/>
                <a:ea typeface="Hubot Sans SemiBold" pitchFamily="34" charset="-122"/>
                <a:cs typeface="Hubot Sans SemiBold" pitchFamily="34" charset="-120"/>
              </a:rPr>
              <a:t>05</a:t>
            </a:r>
            <a:endParaRPr lang="en-US" sz="1500" dirty="0"/>
          </a:p>
        </p:txBody>
      </p:sp>
      <p:sp>
        <p:nvSpPr>
          <p:cNvPr id="28" name="Text 26"/>
          <p:cNvSpPr/>
          <p:nvPr/>
        </p:nvSpPr>
        <p:spPr>
          <a:xfrm>
            <a:off x="4546486" y="5021362"/>
            <a:ext cx="6934027" cy="274241"/>
          </a:xfrm>
          <a:prstGeom prst="rect">
            <a:avLst/>
          </a:prstGeom>
          <a:noFill/>
          <a:ln/>
        </p:spPr>
        <p:txBody>
          <a:bodyPr wrap="none" lIns="0" tIns="0" rIns="0" bIns="0" rtlCol="0" anchor="t"/>
          <a:lstStyle/>
          <a:p>
            <a:pPr algn="l" indent="0" marL="0">
              <a:lnSpc>
                <a:spcPct val="113000"/>
              </a:lnSpc>
              <a:buNone/>
            </a:pPr>
            <a:r>
              <a:rPr lang="en-US" sz="1600" dirty="0">
                <a:solidFill>
                  <a:srgbClr val="EEF0EA"/>
                </a:solidFill>
                <a:latin typeface="Hubot Sans" pitchFamily="34" charset="0"/>
                <a:ea typeface="Hubot Sans" pitchFamily="34" charset="-122"/>
                <a:cs typeface="Hubot Sans" pitchFamily="34" charset="-120"/>
              </a:rPr>
              <a:t>Target with nuance</a:t>
            </a:r>
            <a:endParaRPr lang="en-US" sz="1600" dirty="0"/>
          </a:p>
        </p:txBody>
      </p:sp>
      <p:sp>
        <p:nvSpPr>
          <p:cNvPr id="29" name="Text 27"/>
          <p:cNvSpPr/>
          <p:nvPr/>
        </p:nvSpPr>
        <p:spPr>
          <a:xfrm>
            <a:off x="4546486" y="5403552"/>
            <a:ext cx="6934027" cy="56892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C9CFC8"/>
                </a:solidFill>
                <a:latin typeface="Hubot Sans" pitchFamily="34" charset="0"/>
                <a:ea typeface="Hubot Sans" pitchFamily="34" charset="-122"/>
                <a:cs typeface="Hubot Sans" pitchFamily="34" charset="-120"/>
              </a:rPr>
              <a:t>Target young adults first, then tailor messages by age group and shipping preference.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2026-09-25T10:52:01Z</dcterms:created>
  <dcterms:modified xsi:type="dcterms:W3CDTF">2026-09-25T10:52:01Z</dcterms:modified>
</cp:coreProperties>
</file>